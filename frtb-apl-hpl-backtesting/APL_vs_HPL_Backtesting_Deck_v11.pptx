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ns0:sectionLst xmlns:ns0="http://schemas.microsoft.com/office/powerpoint/2010/main">
        <ns0:section name="Opening" id="{704161B4-72DF-458C-9A7C-5A7D79FF8C22}">
          <ns0:sldIdLst>
            <ns0:sldId id="256"/>
          </ns0:sldIdLst>
        </ns0:section>
        <ns0:section name="Session 1 · The Two Measures" id="{B9A5CE37-C024-4AC3-A3F3-C436793C28F8}">
          <ns0:sldIdLst>
            <ns0:sldId id="257"/>
            <ns0:sldId id="258"/>
            <ns0:sldId id="259"/>
            <ns0:sldId id="260"/>
            <ns0:sldId id="261"/>
            <ns0:sldId id="262"/>
            <ns0:sldId id="263"/>
            <ns0:sldId id="264"/>
          </ns0:sldIdLst>
        </ns0:section>
        <ns0:section name="Session 2 · What Is Being Tested" id="{A4D9BF15-951B-4C50-B23D-A1036FBF35D5}">
          <ns0:sldIdLst>
            <ns0:sldId id="265"/>
            <ns0:sldId id="266"/>
            <ns0:sldId id="267"/>
            <ns0:sldId id="268"/>
            <ns0:sldId id="269"/>
            <ns0:sldId id="270"/>
            <ns0:sldId id="271"/>
            <ns0:sldId id="272"/>
            <ns0:sldId id="273"/>
          </ns0:sldIdLst>
        </ns0:section>
        <ns0:section name="Session 3 · Valuation Adjustments" id="{F1B73265-32B0-4C1D-A12E-A34B9A11B8BB}">
          <ns0:sldIdLst>
            <ns0:sldId id="274"/>
            <ns0:sldId id="275"/>
            <ns0:sldId id="276"/>
            <ns0:sldId id="277"/>
            <ns0:sldId id="278"/>
            <ns0:sldId id="279"/>
            <ns0:sldId id="280"/>
            <ns0:sldId id="281"/>
            <ns0:sldId id="282"/>
            <ns0:sldId id="283"/>
          </ns0:sldIdLst>
        </ns0:section>
        <ns0:section name="Session 4 · When A Breach Happens" id="{ECD0C727-847D-4855-8953-FF58EBE8C035}">
          <ns0:sldIdLst>
            <ns0:sldId id="284"/>
            <ns0:sldId id="285"/>
            <ns0:sldId id="286"/>
            <ns0:sldId id="287"/>
            <ns0:sldId id="288"/>
            <ns0:sldId id="289"/>
            <ns0:sldId id="290"/>
            <ns0:sldId id="291"/>
            <ns0:sldId id="292"/>
          </ns0:sldIdLst>
        </ns0:section>
        <ns0:section name="Session 5 · Getting It Right" id="{D0159856-F71E-41F7-9734-BD6E3F56FD4A}">
          <ns0:sldIdLst>
            <ns0:sldId id="293"/>
            <ns0:sldId id="294"/>
            <ns0:sldId id="295"/>
            <ns0:sldId id="296"/>
            <ns0:sldId id="297"/>
            <ns0:sldId id="298"/>
          </ns0:sldIdLst>
        </ns0:section>
      </ns0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ark-1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502920"/>
            <a:ext cx="1691640" cy="1691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" y="22860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38" b="1" i="0">
                <a:solidFill>
                  <a:srgbClr val="9DB4CC"/>
                </a:solidFill>
                <a:latin typeface="Calibri"/>
              </a:rPr>
              <a:t>MARKET RISK  ·  FRTB INTERNAL MODELS APPROACH  ·  MAR32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743200"/>
            <a:ext cx="107899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5040" b="1" i="0">
                <a:solidFill>
                  <a:srgbClr val="FFFFFF"/>
                </a:solidFill>
                <a:latin typeface="Calibri"/>
              </a:rPr>
              <a:t>Actual P&amp;L and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5040" b="1" i="0">
                <a:solidFill>
                  <a:srgbClr val="FFFFFF"/>
                </a:solidFill>
                <a:latin typeface="Calibri"/>
              </a:rPr>
              <a:t>Hypothetical P&amp;L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4327525"/>
            <a:ext cx="2011680" cy="31750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52628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764" b="0" i="0">
                <a:solidFill>
                  <a:srgbClr val="CFD8E2"/>
                </a:solidFill>
                <a:latin typeface="Calibri"/>
              </a:rPr>
              <a:t>One book, one day, two measures — what goes into each, why the difference is narrower than it looks, and what a breach costs.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5486400"/>
            <a:ext cx="10451592" cy="713232"/>
          </a:xfrm>
          <a:prstGeom prst="rect">
            <a:avLst/>
          </a:prstGeom>
          <a:solidFill>
            <a:srgbClr val="163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5559552"/>
            <a:ext cx="233857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94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5897880"/>
            <a:ext cx="233857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97" b="0" i="0">
                <a:solidFill>
                  <a:srgbClr val="9DB4CC"/>
                </a:solidFill>
                <a:latin typeface="Calibri"/>
              </a:rPr>
              <a:t>measures backtested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82746" y="5559552"/>
            <a:ext cx="233857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94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2746" y="5897880"/>
            <a:ext cx="233857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97" b="0" i="0">
                <a:solidFill>
                  <a:srgbClr val="9DB4CC"/>
                </a:solidFill>
                <a:latin typeface="Calibri"/>
              </a:rPr>
              <a:t>questions place any VA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5228" y="5605272"/>
            <a:ext cx="12700" cy="475488"/>
          </a:xfrm>
          <a:prstGeom prst="rect">
            <a:avLst/>
          </a:prstGeom>
          <a:solidFill>
            <a:srgbClr val="2C5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5644" y="5559552"/>
            <a:ext cx="233857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94" b="1" i="0">
                <a:solidFill>
                  <a:srgbClr val="FFFFFF"/>
                </a:solidFill>
                <a:latin typeface="Calibri"/>
              </a:rPr>
              <a:t>12 / 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5644" y="5897880"/>
            <a:ext cx="233857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97" b="0" i="0">
                <a:solidFill>
                  <a:srgbClr val="9DB4CC"/>
                </a:solidFill>
                <a:latin typeface="Calibri"/>
              </a:rPr>
              <a:t>desk exception limits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8126" y="5605272"/>
            <a:ext cx="12700" cy="475488"/>
          </a:xfrm>
          <a:prstGeom prst="rect">
            <a:avLst/>
          </a:prstGeom>
          <a:solidFill>
            <a:srgbClr val="2C5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08542" y="5559552"/>
            <a:ext cx="233857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94" b="1" i="0">
                <a:solidFill>
                  <a:srgbClr val="FFFFFF"/>
                </a:solidFill>
                <a:latin typeface="Calibri"/>
              </a:rPr>
              <a:t>max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08542" y="5897880"/>
            <a:ext cx="233857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97" b="0" i="0">
                <a:solidFill>
                  <a:srgbClr val="9DB4CC"/>
                </a:solidFill>
                <a:latin typeface="Calibri"/>
              </a:rPr>
              <a:t>of the two counts governs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01024" y="5605272"/>
            <a:ext cx="12700" cy="475488"/>
          </a:xfrm>
          <a:prstGeom prst="rect">
            <a:avLst/>
          </a:prstGeom>
          <a:solidFill>
            <a:srgbClr val="2C5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6355080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97" b="0" i="0">
                <a:solidFill>
                  <a:srgbClr val="7E97B0"/>
                </a:solidFill>
                <a:latin typeface="Calibri"/>
              </a:rPr>
              <a:t>Market Risk — FRTB Programme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0116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89" b="1" i="0">
                <a:solidFill>
                  <a:srgbClr val="C2453C"/>
                </a:solidFill>
                <a:latin typeface="Calibri"/>
              </a:rPr>
              <a:t>SESSION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468880"/>
            <a:ext cx="10607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200"/>
              </a:spcAft>
            </a:pPr>
            <a:r>
              <a:rPr sz="4284" b="1" i="0">
                <a:solidFill>
                  <a:srgbClr val="FFFFFF"/>
                </a:solidFill>
                <a:latin typeface="Calibri"/>
              </a:rPr>
              <a:t>The Two Measures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3687445"/>
            <a:ext cx="1554480" cy="31750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9319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512" b="1" i="0">
                <a:solidFill>
                  <a:srgbClr val="9DB4CC"/>
                </a:solidFill>
                <a:latin typeface="Calibri"/>
              </a:rPr>
              <a:t>In this session:  </a:t>
            </a:r>
            <a:r>
              <a:rPr sz="1512" b="0" i="0">
                <a:solidFill>
                  <a:srgbClr val="FFFFFF"/>
                </a:solidFill>
                <a:latin typeface="Calibri"/>
              </a:rPr>
              <a:t>What each one is, and where the boundary falls.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23" b="1" i="0">
                <a:solidFill>
                  <a:srgbClr val="C2453C"/>
                </a:solidFill>
                <a:latin typeface="Calibri"/>
              </a:rPr>
              <a:t>SESSION 1 · THE TWO MEASURES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607247" y="274320"/>
            <a:ext cx="3017520" cy="512064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07247" y="274320"/>
            <a:ext cx="64008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1839" y="274320"/>
            <a:ext cx="2743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71" b="1" i="0">
                <a:solidFill>
                  <a:srgbClr val="2E7D5B"/>
                </a:solidFill>
                <a:latin typeface="Calibri"/>
              </a:rPr>
              <a:t>NOTE →  </a:t>
            </a:r>
            <a:r>
              <a:rPr sz="1260" b="1" i="0">
                <a:solidFill>
                  <a:srgbClr val="0E2C4B"/>
                </a:solidFill>
                <a:latin typeface="Calibri"/>
              </a:rPr>
              <a:t>§1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8" b="0" i="0">
                <a:solidFill>
                  <a:srgbClr val="6A6A6A"/>
                </a:solidFill>
                <a:latin typeface="Calibri"/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781171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0E2C4B"/>
                </a:solidFill>
                <a:latin typeface="Calibri"/>
              </a:rPr>
              <a:t>Two comparisons are required, not 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554480"/>
            <a:ext cx="110578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764" b="0" i="0">
                <a:solidFill>
                  <a:srgbClr val="1A1A1A"/>
                </a:solidFill>
                <a:latin typeface="Calibri"/>
              </a:rPr>
              <a:t>MAR32.4:  the one-day VaR measure is compared against </a:t>
            </a:r>
            <a:r>
              <a:rPr sz="1764" b="1" i="0">
                <a:solidFill>
                  <a:srgbClr val="C2453C"/>
                </a:solidFill>
                <a:latin typeface="Calibri"/>
              </a:rPr>
              <a:t>each of</a:t>
            </a:r>
            <a:r>
              <a:rPr sz="1764" b="0" i="0">
                <a:solidFill>
                  <a:srgbClr val="1A1A1A"/>
                </a:solidFill>
                <a:latin typeface="Calibri"/>
              </a:rPr>
              <a:t> the actual P&amp;L and the hypothetical P&amp;L, over the prior 12 months.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514600"/>
            <a:ext cx="35204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514600"/>
            <a:ext cx="3520440" cy="64008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679192"/>
            <a:ext cx="322783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779" b="1" i="0">
                <a:solidFill>
                  <a:srgbClr val="C2453C"/>
                </a:solidFill>
                <a:latin typeface="Calibri"/>
              </a:rPr>
              <a:t>APL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154680"/>
            <a:ext cx="322783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197" b="1" i="0">
                <a:solidFill>
                  <a:srgbClr val="1A1A1A"/>
                </a:solidFill>
                <a:latin typeface="Calibri"/>
              </a:rPr>
              <a:t>actual P&amp;L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474720"/>
            <a:ext cx="3227832" cy="23774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8" b="0" i="0">
                <a:solidFill>
                  <a:srgbClr val="6A6A6A"/>
                </a:solidFill>
                <a:latin typeface="Calibri"/>
              </a:rPr>
              <a:t>the desk's real trading day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2514600"/>
            <a:ext cx="35204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2514600"/>
            <a:ext cx="3520440" cy="64008"/>
          </a:xfrm>
          <a:prstGeom prst="rect">
            <a:avLst/>
          </a:prstGeom>
          <a:solidFill>
            <a:srgbClr val="355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43984" y="2679192"/>
            <a:ext cx="322783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779" b="1" i="0">
                <a:solidFill>
                  <a:srgbClr val="355574"/>
                </a:solidFill>
                <a:latin typeface="Calibri"/>
              </a:rPr>
              <a:t>HPL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984" y="3154680"/>
            <a:ext cx="322783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197" b="1" i="0">
                <a:solidFill>
                  <a:srgbClr val="1A1A1A"/>
                </a:solidFill>
                <a:latin typeface="Calibri"/>
              </a:rPr>
              <a:t>hypothetical P&amp;L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4" y="3474720"/>
            <a:ext cx="3227832" cy="23774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8" b="0" i="0">
                <a:solidFill>
                  <a:srgbClr val="6A6A6A"/>
                </a:solidFill>
                <a:latin typeface="Calibri"/>
              </a:rPr>
              <a:t>the market on a frozen book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28432" y="2514600"/>
            <a:ext cx="35204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28432" y="2514600"/>
            <a:ext cx="3520440" cy="64008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2679192"/>
            <a:ext cx="322783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779" b="1" i="0">
                <a:solidFill>
                  <a:srgbClr val="0E2C4B"/>
                </a:solidFill>
                <a:latin typeface="Calibri"/>
              </a:rPr>
              <a:t>both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74736" y="3154680"/>
            <a:ext cx="322783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197" b="1" i="0">
                <a:solidFill>
                  <a:srgbClr val="1A1A1A"/>
                </a:solidFill>
                <a:latin typeface="Calibri"/>
              </a:rPr>
              <a:t>backtested daily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74736" y="3474720"/>
            <a:ext cx="3227832" cy="23774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8" b="0" i="0">
                <a:solidFill>
                  <a:srgbClr val="6A6A6A"/>
                </a:solidFill>
                <a:latin typeface="Calibri"/>
              </a:rPr>
              <a:t>neither is optional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4110228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4032504"/>
            <a:ext cx="108200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638" b="1" i="0">
                <a:solidFill>
                  <a:srgbClr val="0E2C4B"/>
                </a:solidFill>
                <a:latin typeface="Calibri"/>
              </a:rPr>
              <a:t>Same book, same day.  </a:t>
            </a:r>
            <a:r>
              <a:rPr sz="1638" b="0" i="0">
                <a:solidFill>
                  <a:srgbClr val="1A1A1A"/>
                </a:solidFill>
                <a:latin typeface="Calibri"/>
              </a:rPr>
              <a:t>the two measures are built from one desk's positions; they differ only in what they are permitted to contain.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768596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4690872"/>
            <a:ext cx="108200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638" b="1" i="0">
                <a:solidFill>
                  <a:srgbClr val="0E2C4B"/>
                </a:solidFill>
                <a:latin typeface="Calibri"/>
              </a:rPr>
              <a:t>Different questions.  </a:t>
            </a:r>
            <a:r>
              <a:rPr sz="1638" b="0" i="0">
                <a:solidFill>
                  <a:srgbClr val="1A1A1A"/>
                </a:solidFill>
                <a:latin typeface="Calibri"/>
              </a:rPr>
              <a:t>HPL asks whether the model captures the market; APL asks whether the model's static-book assumption survived a real day.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5623560"/>
            <a:ext cx="11057839" cy="634959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5623560"/>
            <a:ext cx="82296" cy="634959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" y="5623560"/>
            <a:ext cx="10600639" cy="6349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34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449" b="0" i="0">
                <a:solidFill>
                  <a:srgbClr val="1A1A1A"/>
                </a:solidFill>
                <a:latin typeface="Calibri"/>
              </a:rPr>
              <a:t>Neither measure is “the real one”. They are two deliberately narrow views of the same day.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6492240"/>
            <a:ext cx="6309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BCBS MAR32 / MAR33 / CAP30; companion note APL_vs_HPL_Backtesting_Note_v14.docx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67728" y="6492240"/>
            <a:ext cx="41056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Note: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§1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23" b="1" i="0">
                <a:solidFill>
                  <a:srgbClr val="C2453C"/>
                </a:solidFill>
                <a:latin typeface="Calibri"/>
              </a:rPr>
              <a:t>SESSION 1 · THE TWO MEASURES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607247" y="274320"/>
            <a:ext cx="3017520" cy="512064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07247" y="274320"/>
            <a:ext cx="64008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1839" y="274320"/>
            <a:ext cx="2743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71" b="1" i="0">
                <a:solidFill>
                  <a:srgbClr val="2E7D5B"/>
                </a:solidFill>
                <a:latin typeface="Calibri"/>
              </a:rPr>
              <a:t>NOTE →  </a:t>
            </a:r>
            <a:r>
              <a:rPr sz="1260" b="1" i="0">
                <a:solidFill>
                  <a:srgbClr val="0E2C4B"/>
                </a:solidFill>
                <a:latin typeface="Calibri"/>
              </a:rPr>
              <a:t>§2.1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8" b="0" i="0">
                <a:solidFill>
                  <a:srgbClr val="6A6A6A"/>
                </a:solidFill>
                <a:latin typeface="Calibri"/>
              </a:rPr>
              <a:t>hypothetical P&amp;L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781171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0E2C4B"/>
                </a:solidFill>
                <a:latin typeface="Calibri"/>
              </a:rPr>
              <a:t>HPL takes yesterday's positions and today's prices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hpl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572768"/>
            <a:ext cx="9692640" cy="329808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66928" y="5623560"/>
            <a:ext cx="11057839" cy="634959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5623560"/>
            <a:ext cx="82296" cy="634959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5623560"/>
            <a:ext cx="10600639" cy="6349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34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449" b="0" i="0">
                <a:solidFill>
                  <a:srgbClr val="1A1A1A"/>
                </a:solidFill>
                <a:latin typeface="Calibri"/>
              </a:rPr>
              <a:t>Positions from t‑1, market data from t (MAR32.25).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6309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BCBS MAR32 / MAR33 / CAP30; companion note APL_vs_HPL_Backtesting_Note_v14.docx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6492240"/>
            <a:ext cx="41056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Note: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§2.1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23" b="1" i="0">
                <a:solidFill>
                  <a:srgbClr val="C2453C"/>
                </a:solidFill>
                <a:latin typeface="Calibri"/>
              </a:rPr>
              <a:t>SESSION 1 · THE TWO MEASURES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607247" y="274320"/>
            <a:ext cx="3017520" cy="512064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07247" y="274320"/>
            <a:ext cx="64008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1839" y="274320"/>
            <a:ext cx="2743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71" b="1" i="0">
                <a:solidFill>
                  <a:srgbClr val="2E7D5B"/>
                </a:solidFill>
                <a:latin typeface="Calibri"/>
              </a:rPr>
              <a:t>NOTE →  </a:t>
            </a:r>
            <a:r>
              <a:rPr sz="1260" b="1" i="0">
                <a:solidFill>
                  <a:srgbClr val="0E2C4B"/>
                </a:solidFill>
                <a:latin typeface="Calibri"/>
              </a:rPr>
              <a:t>§2.1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8" b="0" i="0">
                <a:solidFill>
                  <a:srgbClr val="6A6A6A"/>
                </a:solidFill>
                <a:latin typeface="Calibri"/>
              </a:rPr>
              <a:t>MAR32.25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781171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0E2C4B"/>
                </a:solidFill>
                <a:latin typeface="Calibri"/>
              </a:rPr>
              <a:t>Freezing the book is what makes HPL a clean test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554480"/>
            <a:ext cx="352044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554480"/>
            <a:ext cx="3520440" cy="82296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73736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23" b="1" i="0">
                <a:solidFill>
                  <a:srgbClr val="C2453C"/>
                </a:solidFill>
                <a:latin typeface="Calibri"/>
              </a:rPr>
              <a:t>EXCLUDED BY CONSTRUCTION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176272"/>
            <a:ext cx="315468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60" b="0" i="0">
                <a:solidFill>
                  <a:srgbClr val="1A1A1A"/>
                </a:solidFill>
                <a:latin typeface="Calibri"/>
              </a:rPr>
              <a:t>Intraday trading, and any new or modified deals. HPL measures the change in value that would occur if end-of-day positions never moved.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71" b="1" i="0">
                <a:solidFill>
                  <a:srgbClr val="C2453C"/>
                </a:solidFill>
                <a:latin typeface="Calibri"/>
              </a:rPr>
              <a:t>EXAMPLE   </a:t>
            </a:r>
            <a:r>
              <a:rPr sz="1171" b="0" i="0">
                <a:solidFill>
                  <a:srgbClr val="6A6A6A"/>
                </a:solidFill>
                <a:latin typeface="Calibri"/>
              </a:rPr>
              <a:t>a round-trip opened and closed inside day 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554480"/>
            <a:ext cx="352044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554480"/>
            <a:ext cx="3520440" cy="82296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73736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23" b="1" i="0">
                <a:solidFill>
                  <a:srgbClr val="2E7D5B"/>
                </a:solidFill>
                <a:latin typeface="Calibri"/>
              </a:rPr>
              <a:t>INCLUDED, OFTEN MISSED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176272"/>
            <a:ext cx="315468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60" b="0" i="0">
                <a:solidFill>
                  <a:srgbClr val="1A1A1A"/>
                </a:solidFill>
                <a:latin typeface="Calibri"/>
              </a:rPr>
              <a:t>Foreign denominated positions, and commodities held in the banking book. Both sit in APL and HPL alike.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71" b="1" i="0">
                <a:solidFill>
                  <a:srgbClr val="2E7D5B"/>
                </a:solidFill>
                <a:latin typeface="Calibri"/>
              </a:rPr>
              <a:t>EXAMPLE   </a:t>
            </a:r>
            <a:r>
              <a:rPr sz="1171" b="0" i="0">
                <a:solidFill>
                  <a:srgbClr val="6A6A6A"/>
                </a:solidFill>
                <a:latin typeface="Calibri"/>
              </a:rPr>
              <a:t>a P&amp;L feed built from the trading book alone is short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28432" y="1554480"/>
            <a:ext cx="352044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28432" y="1554480"/>
            <a:ext cx="3520440" cy="82296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11312" y="173736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23" b="1" i="0">
                <a:solidFill>
                  <a:srgbClr val="0E2C4B"/>
                </a:solidFill>
                <a:latin typeface="Calibri"/>
              </a:rPr>
              <a:t>WHY IT MATTERS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1312" y="2176272"/>
            <a:ext cx="315468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60" b="0" i="0">
                <a:solidFill>
                  <a:srgbClr val="1A1A1A"/>
                </a:solidFill>
                <a:latin typeface="Calibri"/>
              </a:rPr>
              <a:t>With trading activity removed, whatever P&amp;L remains is attributable to market movement acting on the very positions the model saw.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71" b="1" i="0">
                <a:solidFill>
                  <a:srgbClr val="0E2C4B"/>
                </a:solidFill>
                <a:latin typeface="Calibri"/>
              </a:rPr>
              <a:t>EXAMPLE   </a:t>
            </a:r>
            <a:r>
              <a:rPr sz="1171" b="0" i="0">
                <a:solidFill>
                  <a:srgbClr val="6A6A6A"/>
                </a:solidFill>
                <a:latin typeface="Calibri"/>
              </a:rPr>
              <a:t>so an HPL exception points at the model, not the desk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4201668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4123944"/>
            <a:ext cx="108200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638" b="1" i="0">
                <a:solidFill>
                  <a:srgbClr val="0E2C4B"/>
                </a:solidFill>
                <a:latin typeface="Calibri"/>
              </a:rPr>
              <a:t>The same HPL serves twice.  </a:t>
            </a:r>
            <a:r>
              <a:rPr sz="1638" b="0" i="0">
                <a:solidFill>
                  <a:srgbClr val="1A1A1A"/>
                </a:solidFill>
                <a:latin typeface="Calibri"/>
              </a:rPr>
              <a:t>MAR32.24 requires the HPL used for the PLA test to be identical to the HPL used for backtesting — so an error in this definition lands in both regimes at once.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5623560"/>
            <a:ext cx="11057839" cy="634959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5623560"/>
            <a:ext cx="82296" cy="634959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5623560"/>
            <a:ext cx="10600639" cy="6349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34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449" b="0" i="0">
                <a:solidFill>
                  <a:srgbClr val="1A1A1A"/>
                </a:solidFill>
                <a:latin typeface="Calibri"/>
              </a:rPr>
              <a:t>A desk can trade all day, end flat, and post zero HPL. That is the measure working as designed.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6492240"/>
            <a:ext cx="6309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BCBS MAR32 / MAR33 / CAP30; companion note APL_vs_HPL_Backtesting_Note_v14.docx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728" y="6492240"/>
            <a:ext cx="41056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Note: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§2.1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23" b="1" i="0">
                <a:solidFill>
                  <a:srgbClr val="C2453C"/>
                </a:solidFill>
                <a:latin typeface="Calibri"/>
              </a:rPr>
              <a:t>SESSION 1 · THE TWO MEASURES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607247" y="274320"/>
            <a:ext cx="3017520" cy="512064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07247" y="274320"/>
            <a:ext cx="64008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1839" y="274320"/>
            <a:ext cx="2743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71" b="1" i="0">
                <a:solidFill>
                  <a:srgbClr val="2E7D5B"/>
                </a:solidFill>
                <a:latin typeface="Calibri"/>
              </a:rPr>
              <a:t>NOTE →  </a:t>
            </a:r>
            <a:r>
              <a:rPr sz="1260" b="1" i="0">
                <a:solidFill>
                  <a:srgbClr val="0E2C4B"/>
                </a:solidFill>
                <a:latin typeface="Calibri"/>
              </a:rPr>
              <a:t>§2.2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8" b="0" i="0">
                <a:solidFill>
                  <a:srgbClr val="6A6A6A"/>
                </a:solidFill>
                <a:latin typeface="Calibri"/>
              </a:rPr>
              <a:t>actual P&amp;L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781171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0E2C4B"/>
                </a:solidFill>
                <a:latin typeface="Calibri"/>
              </a:rPr>
              <a:t>APL is anchored to the P&amp;L the bank actually reports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595628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517904"/>
            <a:ext cx="108200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701" b="1" i="0">
                <a:solidFill>
                  <a:srgbClr val="0E2C4B"/>
                </a:solidFill>
                <a:latin typeface="Calibri"/>
              </a:rPr>
              <a:t>Starts from the reported figure.  </a:t>
            </a:r>
            <a:r>
              <a:rPr sz="1701" b="0" i="0">
                <a:solidFill>
                  <a:srgbClr val="1A1A1A"/>
                </a:solidFill>
                <a:latin typeface="Calibri"/>
              </a:rPr>
              <a:t>APL begins with the P&amp;L the bank genuinely books and reports, then adjusts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82012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304288"/>
            <a:ext cx="108200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701" b="1" i="0">
                <a:solidFill>
                  <a:srgbClr val="0E2C4B"/>
                </a:solidFill>
                <a:latin typeface="Calibri"/>
              </a:rPr>
              <a:t>Same pricing stack.  </a:t>
            </a:r>
            <a:r>
              <a:rPr sz="1701" b="0" i="0">
                <a:solidFill>
                  <a:srgbClr val="1A1A1A"/>
                </a:solidFill>
                <a:latin typeface="Calibri"/>
              </a:rPr>
              <a:t>both measures must use the same pricing functions, pricing configurations, model parametrisation, market data and systems as the reported daily P&amp;L (MAR32.29).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168396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3090672"/>
            <a:ext cx="108200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701" b="1" i="0">
                <a:solidFill>
                  <a:srgbClr val="0E2C4B"/>
                </a:solidFill>
                <a:latin typeface="Calibri"/>
              </a:rPr>
              <a:t>Then the exclusions apply.  </a:t>
            </a:r>
            <a:r>
              <a:rPr sz="1701" b="0" i="0">
                <a:solidFill>
                  <a:srgbClr val="1A1A1A"/>
                </a:solidFill>
                <a:latin typeface="Calibri"/>
              </a:rPr>
              <a:t>fees, commissions and the valuation adjustments capitalised elsewhere come out (MAR32.26–32.28).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3954780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877056"/>
            <a:ext cx="108200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701" b="1" i="0">
                <a:solidFill>
                  <a:srgbClr val="0E2C4B"/>
                </a:solidFill>
                <a:latin typeface="Calibri"/>
              </a:rPr>
              <a:t>What remains is APL.  </a:t>
            </a:r>
            <a:r>
              <a:rPr sz="1701" b="0" i="0">
                <a:solidFill>
                  <a:srgbClr val="1A1A1A"/>
                </a:solidFill>
                <a:latin typeface="Calibri"/>
              </a:rPr>
              <a:t>market movement, intraday trading, new and modified deals, and market-risk valuation adjustments.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983480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575" b="1" i="0">
                <a:solidFill>
                  <a:srgbClr val="0E2C4B"/>
                </a:solidFill>
                <a:latin typeface="Calibri"/>
              </a:rPr>
              <a:t>Why the anchor matters:  </a:t>
            </a:r>
            <a:r>
              <a:rPr sz="1575" b="0" i="0">
                <a:solidFill>
                  <a:srgbClr val="1A1A1A"/>
                </a:solidFill>
                <a:latin typeface="Calibri"/>
              </a:rPr>
              <a:t>a backtest run against a P&amp;L the bank does not actually report would discipline nothing. This is also why APL is a books-and-records measure rather than a desk's own view of its day.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5623560"/>
            <a:ext cx="11057839" cy="634959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5623560"/>
            <a:ext cx="82296" cy="634959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5623560"/>
            <a:ext cx="10600639" cy="6349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34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449" b="0" i="0">
                <a:solidFill>
                  <a:srgbClr val="1A1A1A"/>
                </a:solidFill>
                <a:latin typeface="Calibri"/>
              </a:rPr>
              <a:t>MAR32 never defines APL constructively. It anchors it to the reported P&amp;L and then tells you what to take out.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6492240"/>
            <a:ext cx="6309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BCBS MAR32 / MAR33 / CAP30; companion note APL_vs_HPL_Backtesting_Note_v14.docx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67728" y="6492240"/>
            <a:ext cx="41056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Note: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§2.2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23" b="1" i="0">
                <a:solidFill>
                  <a:srgbClr val="C2453C"/>
                </a:solidFill>
                <a:latin typeface="Calibri"/>
              </a:rPr>
              <a:t>SESSION 1 · THE TWO MEASURES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607247" y="274320"/>
            <a:ext cx="3017520" cy="512064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07247" y="274320"/>
            <a:ext cx="64008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1839" y="274320"/>
            <a:ext cx="2743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71" b="1" i="0">
                <a:solidFill>
                  <a:srgbClr val="2E7D5B"/>
                </a:solidFill>
                <a:latin typeface="Calibri"/>
              </a:rPr>
              <a:t>NOTE →  </a:t>
            </a:r>
            <a:r>
              <a:rPr sz="1260" b="1" i="0">
                <a:solidFill>
                  <a:srgbClr val="0E2C4B"/>
                </a:solidFill>
                <a:latin typeface="Calibri"/>
              </a:rPr>
              <a:t>§5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8" b="0" i="0">
                <a:solidFill>
                  <a:srgbClr val="6A6A6A"/>
                </a:solidFill>
                <a:latin typeface="Calibri"/>
              </a:rPr>
              <a:t>the boundary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781171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0E2C4B"/>
                </a:solidFill>
                <a:latin typeface="Calibri"/>
              </a:rPr>
              <a:t>Intraday trading is the headline difference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pl_bri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967" y="1572768"/>
            <a:ext cx="9509760" cy="341659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66928" y="5623560"/>
            <a:ext cx="11057839" cy="634959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5623560"/>
            <a:ext cx="82296" cy="634959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5623560"/>
            <a:ext cx="10600639" cy="6349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34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449" b="0" i="0">
                <a:solidFill>
                  <a:srgbClr val="1A1A1A"/>
                </a:solidFill>
                <a:latin typeface="Calibri"/>
              </a:rPr>
              <a:t>Fees and commissions never appear on this bridge — they are excluded from both measures before the comparison starts.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6309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BCBS MAR32 / MAR33 / CAP30; companion note APL_vs_HPL_Backtesting_Note_v14.docx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6492240"/>
            <a:ext cx="41056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Note: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§5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23" b="1" i="0">
                <a:solidFill>
                  <a:srgbClr val="C2453C"/>
                </a:solidFill>
                <a:latin typeface="Calibri"/>
              </a:rPr>
              <a:t>SESSION 1 · THE TWO MEASURES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607247" y="274320"/>
            <a:ext cx="3017520" cy="512064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07247" y="274320"/>
            <a:ext cx="64008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1839" y="274320"/>
            <a:ext cx="2743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71" b="1" i="0">
                <a:solidFill>
                  <a:srgbClr val="2E7D5B"/>
                </a:solidFill>
                <a:latin typeface="Calibri"/>
              </a:rPr>
              <a:t>NOTE →  </a:t>
            </a:r>
            <a:r>
              <a:rPr sz="1260" b="1" i="0">
                <a:solidFill>
                  <a:srgbClr val="0E2C4B"/>
                </a:solidFill>
                <a:latin typeface="Calibri"/>
              </a:rPr>
              <a:t>§5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8" b="0" i="0">
                <a:solidFill>
                  <a:srgbClr val="6A6A6A"/>
                </a:solidFill>
                <a:latin typeface="Calibri"/>
              </a:rPr>
              <a:t>exhibit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781171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0E2C4B"/>
                </a:solidFill>
                <a:latin typeface="Calibri"/>
              </a:rPr>
              <a:t>The gap is narrower than most summaries suggest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86968" y="1536192"/>
          <a:ext cx="10378440" cy="39491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0"/>
                <a:gridCol w="1828800"/>
                <a:gridCol w="2743200"/>
                <a:gridCol w="1234440"/>
              </a:tblGrid>
              <a:tr h="329092">
                <a:tc>
                  <a:txBody>
                    <a:bodyPr wrap="square"/>
                    <a:lstStyle/>
                    <a:p>
                      <a:pPr algn="l"/>
                      <a:r>
                        <a:rPr sz="1260" b="1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60" b="1">
                          <a:solidFill>
                            <a:srgbClr val="FFFFFF"/>
                          </a:solidFill>
                          <a:latin typeface="Calibri"/>
                        </a:rPr>
                        <a:t>In APL?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60" b="1">
                          <a:solidFill>
                            <a:srgbClr val="FFFFFF"/>
                          </a:solidFill>
                          <a:latin typeface="Calibri"/>
                        </a:rPr>
                        <a:t>In HPL?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60" b="1">
                          <a:solidFill>
                            <a:srgbClr val="FFFFFF"/>
                          </a:solidFill>
                          <a:latin typeface="Calibri"/>
                        </a:rPr>
                        <a:t>Provision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</a:tr>
              <a:tr h="3290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Market moves on end-of-previous-day positions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E7D5B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E7D5B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MAR32.25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3290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Intraday trading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E7D5B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C2453C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MAR32.25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3290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New or modified deals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E7D5B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C2453C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MAR32.25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3290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Fees and commissions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C2453C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C2453C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MAR32.26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3290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CVA and its associated eligible hedges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C2453C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C2453C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MAR32.26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3290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VAs deducted from CET1 (eg DVA)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C2453C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C2453C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MAR32.26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3290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Other market-risk VAs, updated daily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E7D5B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E7D5B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MAR32.27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3290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Other market-risk VAs, not updated daily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E7D5B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C2453C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MAR32.27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3290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P&amp;L from the passage of time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E7D5B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B8862E"/>
                          </a:solidFill>
                          <a:latin typeface="Calibri"/>
                        </a:rPr>
                        <a:t>consistent with APL and RTPL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MAR32.27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3290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FX positions and banking-book commodities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E7D5B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E7D5B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MAR32.25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32909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VAs not computable at desk level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B8862E"/>
                          </a:solidFill>
                          <a:latin typeface="Calibri"/>
                        </a:rPr>
                        <a:t>bank-wide only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B8862E"/>
                          </a:solidFill>
                          <a:latin typeface="Calibri"/>
                        </a:rPr>
                        <a:t>bank-wide only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MAR32.28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5623560"/>
            <a:ext cx="11057839" cy="634959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5623560"/>
            <a:ext cx="82296" cy="634959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5623560"/>
            <a:ext cx="10600639" cy="6349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34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449" b="0" i="0">
                <a:solidFill>
                  <a:srgbClr val="1A1A1A"/>
                </a:solidFill>
                <a:latin typeface="Calibri"/>
              </a:rPr>
              <a:t>Only two things separate the measures: intraday activity, and valuation adjustments that are not updated daily.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6309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BCBS MAR32 / MAR33 / CAP30; companion note APL_vs_HPL_Backtesting_Note_v14.docx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6492240"/>
            <a:ext cx="41056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Note: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§5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23" b="1" i="0">
                <a:solidFill>
                  <a:srgbClr val="C2453C"/>
                </a:solidFill>
                <a:latin typeface="Calibri"/>
              </a:rPr>
              <a:t>SESSION 1 · THE TWO MEASURES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607247" y="274320"/>
            <a:ext cx="3017520" cy="512064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07247" y="274320"/>
            <a:ext cx="64008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1839" y="274320"/>
            <a:ext cx="2743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71" b="1" i="0">
                <a:solidFill>
                  <a:srgbClr val="2E7D5B"/>
                </a:solidFill>
                <a:latin typeface="Calibri"/>
              </a:rPr>
              <a:t>NOTE →  </a:t>
            </a:r>
            <a:r>
              <a:rPr sz="1260" b="1" i="0">
                <a:solidFill>
                  <a:srgbClr val="0E2C4B"/>
                </a:solidFill>
                <a:latin typeface="Calibri"/>
              </a:rPr>
              <a:t>§5.1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8" b="0" i="0">
                <a:solidFill>
                  <a:srgbClr val="6A6A6A"/>
                </a:solidFill>
                <a:latin typeface="Calibri"/>
              </a:rPr>
              <a:t>fees and commissions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781171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0E2C4B"/>
                </a:solidFill>
                <a:latin typeface="Calibri"/>
              </a:rPr>
              <a:t>Fees and commissions are in neither measure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554480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889" b="0" i="0">
                <a:solidFill>
                  <a:srgbClr val="1A1A1A"/>
                </a:solidFill>
                <a:latin typeface="Calibri"/>
              </a:rPr>
              <a:t>Excluded from </a:t>
            </a:r>
            <a:r>
              <a:rPr sz="1889" b="1" i="0">
                <a:solidFill>
                  <a:srgbClr val="C2453C"/>
                </a:solidFill>
                <a:latin typeface="Calibri"/>
              </a:rPr>
              <a:t>both</a:t>
            </a:r>
            <a:r>
              <a:rPr sz="1889" b="0" i="0">
                <a:solidFill>
                  <a:srgbClr val="1A1A1A"/>
                </a:solidFill>
                <a:latin typeface="Calibri"/>
              </a:rPr>
              <a:t> APL and HPL, along with valuation adjustments capitalised elsewhere in the framework and those deducted from CET1  (MAR32.26).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606040"/>
            <a:ext cx="352044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606040"/>
            <a:ext cx="3520440" cy="82296"/>
          </a:xfrm>
          <a:prstGeom prst="rect">
            <a:avLst/>
          </a:prstGeom>
          <a:solidFill>
            <a:srgbClr val="355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78892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23" b="1" i="0">
                <a:solidFill>
                  <a:srgbClr val="355574"/>
                </a:solidFill>
                <a:latin typeface="Calibri"/>
              </a:rPr>
              <a:t>THE QUESTION DESKS 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227832"/>
            <a:ext cx="3154680" cy="1142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60" b="0" i="0">
                <a:solidFill>
                  <a:srgbClr val="1A1A1A"/>
                </a:solidFill>
                <a:latin typeface="Calibri"/>
              </a:rPr>
              <a:t>How does a VaR model account for fees and commissions?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2606040"/>
            <a:ext cx="352044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2606040"/>
            <a:ext cx="3520440" cy="82296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278892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23" b="1" i="0">
                <a:solidFill>
                  <a:srgbClr val="2E7D5B"/>
                </a:solidFill>
                <a:latin typeface="Calibri"/>
              </a:rPr>
              <a:t>THE ANSWER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3227832"/>
            <a:ext cx="3154680" cy="1142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60" b="0" i="0">
                <a:solidFill>
                  <a:srgbClr val="1A1A1A"/>
                </a:solidFill>
                <a:latin typeface="Calibri"/>
              </a:rPr>
              <a:t>It does not have to. They are removed from both measures before the comparison is ever made.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28432" y="2606040"/>
            <a:ext cx="352044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28432" y="2606040"/>
            <a:ext cx="3520440" cy="82296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278892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23" b="1" i="0">
                <a:solidFill>
                  <a:srgbClr val="C2453C"/>
                </a:solidFill>
                <a:latin typeface="Calibri"/>
              </a:rPr>
              <a:t>THE CONSEQUENCE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2" y="3227832"/>
            <a:ext cx="3154680" cy="1142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60" b="0" i="0">
                <a:solidFill>
                  <a:srgbClr val="1A1A1A"/>
                </a:solidFill>
                <a:latin typeface="Calibri"/>
              </a:rPr>
              <a:t>Any explanation that has fees flowing into APL and then reaches for a reserve or operational-risk mechanism is solving a problem the standard already deleted.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5623560"/>
            <a:ext cx="11057839" cy="634959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5623560"/>
            <a:ext cx="82296" cy="634959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5623560"/>
            <a:ext cx="10600639" cy="6349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34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449" b="0" i="0">
                <a:solidFill>
                  <a:srgbClr val="1A1A1A"/>
                </a:solidFill>
                <a:latin typeface="Calibri"/>
              </a:rPr>
              <a:t>Bid-offer is a different case entirely — it is market-risk related, so it stays. Fees leave; bid-offer does not.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6492240"/>
            <a:ext cx="6309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BCBS MAR32 / MAR33 / CAP30; companion note APL_vs_HPL_Backtesting_Note_v14.docx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7728" y="6492240"/>
            <a:ext cx="41056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Note: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§5.1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0116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89" b="1" i="0">
                <a:solidFill>
                  <a:srgbClr val="C2453C"/>
                </a:solidFill>
                <a:latin typeface="Calibri"/>
              </a:rPr>
              <a:t>SESSION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468880"/>
            <a:ext cx="10607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200"/>
              </a:spcAft>
            </a:pPr>
            <a:r>
              <a:rPr sz="4284" b="1" i="0">
                <a:solidFill>
                  <a:srgbClr val="FFFFFF"/>
                </a:solidFill>
                <a:latin typeface="Calibri"/>
              </a:rPr>
              <a:t>What Is Being Tested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3687445"/>
            <a:ext cx="1554480" cy="31750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9319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512" b="1" i="0">
                <a:solidFill>
                  <a:srgbClr val="9DB4CC"/>
                </a:solidFill>
                <a:latin typeface="Calibri"/>
              </a:rPr>
              <a:t>In this session:  </a:t>
            </a:r>
            <a:r>
              <a:rPr sz="1512" b="0" i="0">
                <a:solidFill>
                  <a:srgbClr val="FFFFFF"/>
                </a:solidFill>
                <a:latin typeface="Calibri"/>
              </a:rPr>
              <a:t>Why two comparisons, and what the model has to hold.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23" b="1" i="0">
                <a:solidFill>
                  <a:srgbClr val="C2453C"/>
                </a:solidFill>
                <a:latin typeface="Calibri"/>
              </a:rPr>
              <a:t>SESSION 2 · WHAT IS BEING TESTED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8607247" y="274320"/>
            <a:ext cx="3017520" cy="512064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07247" y="274320"/>
            <a:ext cx="64008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1839" y="274320"/>
            <a:ext cx="2743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71" b="1" i="0">
                <a:solidFill>
                  <a:srgbClr val="2E7D5B"/>
                </a:solidFill>
                <a:latin typeface="Calibri"/>
              </a:rPr>
              <a:t>NOTE →  </a:t>
            </a:r>
            <a:r>
              <a:rPr sz="1260" b="1" i="0">
                <a:solidFill>
                  <a:srgbClr val="0E2C4B"/>
                </a:solidFill>
                <a:latin typeface="Calibri"/>
              </a:rPr>
              <a:t>§3.1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8" b="0" i="0">
                <a:solidFill>
                  <a:srgbClr val="6A6A6A"/>
                </a:solidFill>
                <a:latin typeface="Calibri"/>
              </a:rPr>
              <a:t>the timing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781171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0E2C4B"/>
                </a:solidFill>
                <a:latin typeface="Calibri"/>
              </a:rPr>
              <a:t>VaR forecasts one book. HPL scores that book.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49808" y="1691640"/>
          <a:ext cx="10698480" cy="294509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5943600"/>
                <a:gridCol w="2926080"/>
              </a:tblGrid>
              <a:tr h="490849">
                <a:tc>
                  <a:txBody>
                    <a:bodyPr wrap="square"/>
                    <a:lstStyle/>
                    <a:p>
                      <a:pPr algn="l"/>
                      <a:r>
                        <a:rPr sz="1260" b="1">
                          <a:solidFill>
                            <a:srgbClr val="FFFFFF"/>
                          </a:solidFill>
                          <a:latin typeface="Calibri"/>
                        </a:rPr>
                        <a:t>When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60" b="1">
                          <a:solidFill>
                            <a:srgbClr val="FFFFFF"/>
                          </a:solidFill>
                          <a:latin typeface="Calibri"/>
                        </a:rPr>
                        <a:t>What happens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60" b="1">
                          <a:solidFill>
                            <a:srgbClr val="FFFFFF"/>
                          </a:solidFill>
                          <a:latin typeface="Calibri"/>
                        </a:rPr>
                        <a:t>Which book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</a:tr>
              <a:tr h="490849">
                <a:tc>
                  <a:txBody>
                    <a:bodyPr wrap="square"/>
                    <a:lstStyle/>
                    <a:p>
                      <a:pPr algn="l"/>
                      <a:r>
                        <a:rPr sz="1260" b="1">
                          <a:solidFill>
                            <a:srgbClr val="1A1A1A"/>
                          </a:solidFill>
                          <a:latin typeface="Calibri"/>
                        </a:rPr>
                        <a:t>End of day t-1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60" b="0">
                          <a:solidFill>
                            <a:srgbClr val="1A1A1A"/>
                          </a:solidFill>
                          <a:latin typeface="Calibri"/>
                        </a:rPr>
                        <a:t>The risk system takes a position snapshot.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60" b="1">
                          <a:solidFill>
                            <a:srgbClr val="0E2C4B"/>
                          </a:solidFill>
                          <a:latin typeface="Calibri"/>
                        </a:rPr>
                        <a:t>book B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490849">
                <a:tc>
                  <a:txBody>
                    <a:bodyPr wrap="square"/>
                    <a:lstStyle/>
                    <a:p>
                      <a:pPr algn="l"/>
                      <a:r>
                        <a:rPr sz="1260" b="1">
                          <a:solidFill>
                            <a:srgbClr val="1A1A1A"/>
                          </a:solidFill>
                          <a:latin typeface="Calibri"/>
                        </a:rPr>
                        <a:t>End of day t-1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60" b="0">
                          <a:solidFill>
                            <a:srgbClr val="1A1A1A"/>
                          </a:solidFill>
                          <a:latin typeface="Calibri"/>
                        </a:rPr>
                        <a:t>VaR is computed from that snapshot — the 1-day 99% loss for this book.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60" b="1">
                          <a:solidFill>
                            <a:srgbClr val="0E2C4B"/>
                          </a:solidFill>
                          <a:latin typeface="Calibri"/>
                        </a:rPr>
                        <a:t>book B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490849">
                <a:tc>
                  <a:txBody>
                    <a:bodyPr wrap="square"/>
                    <a:lstStyle/>
                    <a:p>
                      <a:pPr algn="l"/>
                      <a:r>
                        <a:rPr sz="1260" b="1">
                          <a:solidFill>
                            <a:srgbClr val="1A1A1A"/>
                          </a:solidFill>
                          <a:latin typeface="Calibri"/>
                        </a:rPr>
                        <a:t>Day t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60" b="0">
                          <a:solidFill>
                            <a:srgbClr val="1A1A1A"/>
                          </a:solidFill>
                          <a:latin typeface="Calibri"/>
                        </a:rPr>
                        <a:t>The market moves. The desk may also trade.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6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490849">
                <a:tc>
                  <a:txBody>
                    <a:bodyPr wrap="square"/>
                    <a:lstStyle/>
                    <a:p>
                      <a:pPr algn="l"/>
                      <a:r>
                        <a:rPr sz="1260" b="1">
                          <a:solidFill>
                            <a:srgbClr val="1A1A1A"/>
                          </a:solidFill>
                          <a:latin typeface="Calibri"/>
                        </a:rPr>
                        <a:t>End of day t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60" b="0">
                          <a:solidFill>
                            <a:srgbClr val="1A1A1A"/>
                          </a:solidFill>
                          <a:latin typeface="Calibri"/>
                        </a:rPr>
                        <a:t>HPL revalues the snapshot at today's prices.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60" b="1">
                          <a:solidFill>
                            <a:srgbClr val="2E7D5B"/>
                          </a:solidFill>
                          <a:latin typeface="Calibri"/>
                        </a:rPr>
                        <a:t>book B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490849">
                <a:tc>
                  <a:txBody>
                    <a:bodyPr wrap="square"/>
                    <a:lstStyle/>
                    <a:p>
                      <a:pPr algn="l"/>
                      <a:r>
                        <a:rPr sz="1260" b="1">
                          <a:solidFill>
                            <a:srgbClr val="1A1A1A"/>
                          </a:solidFill>
                          <a:latin typeface="Calibri"/>
                        </a:rPr>
                        <a:t>End of day t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60" b="0">
                          <a:solidFill>
                            <a:srgbClr val="1A1A1A"/>
                          </a:solidFill>
                          <a:latin typeface="Calibri"/>
                        </a:rPr>
                        <a:t>APL reflects the day the desk actually had.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60" b="1">
                          <a:solidFill>
                            <a:srgbClr val="C2453C"/>
                          </a:solidFill>
                          <a:latin typeface="Calibri"/>
                        </a:rPr>
                        <a:t>book B + what was traded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4800600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764" b="0" i="0">
                <a:solidFill>
                  <a:srgbClr val="1A1A1A"/>
                </a:solidFill>
                <a:latin typeface="Calibri"/>
              </a:rPr>
              <a:t>The VaR number was a statement about book B, and HPL measures what happened to book B. </a:t>
            </a:r>
            <a:r>
              <a:rPr sz="1764" b="1" i="0">
                <a:solidFill>
                  <a:srgbClr val="0E2C4B"/>
                </a:solidFill>
                <a:latin typeface="Calibri"/>
              </a:rPr>
              <a:t>APL deliberately does not — it scores that forecast against the book the desk actually ran, which is how it catches a snapshot that stopped being representative.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623560"/>
            <a:ext cx="11057839" cy="634959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5623560"/>
            <a:ext cx="82296" cy="634959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5623560"/>
            <a:ext cx="10600639" cy="6349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34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449" b="0" i="0">
                <a:solidFill>
                  <a:srgbClr val="1A1A1A"/>
                </a:solidFill>
                <a:latin typeface="Calibri"/>
              </a:rPr>
              <a:t>That like-for-like property is the whole reason HPL exists as a separate measure.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6492240"/>
            <a:ext cx="6309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BCBS MAR32 / MAR33 / CAP30; companion note APL_vs_HPL_Backtesting_Note_v14.docx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67728" y="6492240"/>
            <a:ext cx="41056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Note: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§3.1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23" b="1" i="0">
                <a:solidFill>
                  <a:srgbClr val="C2453C"/>
                </a:solidFill>
                <a:latin typeface="Calibri"/>
              </a:rPr>
              <a:t>SESSION 2 · WHAT IS BEING TESTED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8607247" y="274320"/>
            <a:ext cx="3017520" cy="512064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07247" y="274320"/>
            <a:ext cx="64008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1839" y="274320"/>
            <a:ext cx="2743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71" b="1" i="0">
                <a:solidFill>
                  <a:srgbClr val="2E7D5B"/>
                </a:solidFill>
                <a:latin typeface="Calibri"/>
              </a:rPr>
              <a:t>NOTE →  </a:t>
            </a:r>
            <a:r>
              <a:rPr sz="1260" b="1" i="0">
                <a:solidFill>
                  <a:srgbClr val="0E2C4B"/>
                </a:solidFill>
                <a:latin typeface="Calibri"/>
              </a:rPr>
              <a:t>§3.1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8" b="0" i="0">
                <a:solidFill>
                  <a:srgbClr val="6A6A6A"/>
                </a:solidFill>
                <a:latin typeface="Calibri"/>
              </a:rPr>
              <a:t>what HPL tests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781171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0E2C4B"/>
                </a:solidFill>
                <a:latin typeface="Calibri"/>
              </a:rPr>
              <a:t>HPL tests the 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595628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517904"/>
            <a:ext cx="744321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764" b="1" i="0">
                <a:solidFill>
                  <a:srgbClr val="0E2C4B"/>
                </a:solidFill>
                <a:latin typeface="Calibri"/>
              </a:rPr>
              <a:t>The book is held still.  </a:t>
            </a:r>
            <a:r>
              <a:rPr sz="1764" b="0" i="0">
                <a:solidFill>
                  <a:srgbClr val="1A1A1A"/>
                </a:solidFill>
                <a:latin typeface="Calibri"/>
              </a:rPr>
              <a:t>so whatever P&amp;L emerges is attributable to market movement acting on positions the model actually saw when it produced the VaR number.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464308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386584"/>
            <a:ext cx="744321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764" b="1" i="0">
                <a:solidFill>
                  <a:srgbClr val="0E2C4B"/>
                </a:solidFill>
                <a:latin typeface="Calibri"/>
              </a:rPr>
              <a:t>That makes it the clean test.  </a:t>
            </a:r>
            <a:r>
              <a:rPr sz="1764" b="0" i="0">
                <a:solidFill>
                  <a:srgbClr val="1A1A1A"/>
                </a:solidFill>
                <a:latin typeface="Calibri"/>
              </a:rPr>
              <a:t>if the forecast distribution is too narrow, or the pricing of the frozen book is wrong, HPL exceptions expose it without any confounding from trading activity.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332988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3255264"/>
            <a:ext cx="744321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764" b="1" i="0">
                <a:solidFill>
                  <a:srgbClr val="0E2C4B"/>
                </a:solidFill>
                <a:latin typeface="Calibri"/>
              </a:rPr>
              <a:t>No hiding place.  </a:t>
            </a:r>
            <a:r>
              <a:rPr sz="1764" b="0" i="0">
                <a:solidFill>
                  <a:srgbClr val="1A1A1A"/>
                </a:solidFill>
                <a:latin typeface="Calibri"/>
              </a:rPr>
              <a:t>a desk cannot explain an HPL exception by pointing at what it traded, because by construction it traded nothing.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05088" y="1828800"/>
            <a:ext cx="29260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05088" y="1828800"/>
            <a:ext cx="2926080" cy="64008"/>
          </a:xfrm>
          <a:prstGeom prst="rect">
            <a:avLst/>
          </a:prstGeom>
          <a:solidFill>
            <a:srgbClr val="355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51392" y="1993392"/>
            <a:ext cx="26334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150" b="1" i="0">
                <a:solidFill>
                  <a:srgbClr val="355574"/>
                </a:solidFill>
                <a:latin typeface="Calibri"/>
              </a:rPr>
              <a:t>the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1392" y="2468880"/>
            <a:ext cx="263347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197" b="1" i="0">
                <a:solidFill>
                  <a:srgbClr val="1A1A1A"/>
                </a:solidFill>
                <a:latin typeface="Calibri"/>
              </a:rPr>
              <a:t>what an HPL breach implicates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51392" y="2926080"/>
            <a:ext cx="2633472" cy="23774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8" b="0" i="0">
                <a:solidFill>
                  <a:srgbClr val="6A6A6A"/>
                </a:solidFill>
                <a:latin typeface="Calibri"/>
              </a:rPr>
              <a:t>pricing, or the forecast distribution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5623560"/>
            <a:ext cx="11057839" cy="634959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5623560"/>
            <a:ext cx="82296" cy="634959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5623560"/>
            <a:ext cx="10600639" cy="6349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34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449" b="0" i="0">
                <a:solidFill>
                  <a:srgbClr val="1A1A1A"/>
                </a:solidFill>
                <a:latin typeface="Calibri"/>
              </a:rPr>
              <a:t>HPL answers: does the risk model capture the market it claims to capture?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6492240"/>
            <a:ext cx="6309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BCBS MAR32 / MAR33 / CAP30; companion note APL_vs_HPL_Backtesting_Note_v14.docx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6492240"/>
            <a:ext cx="41056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Note: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§3.1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23" b="1" i="0">
                <a:solidFill>
                  <a:srgbClr val="C2453C"/>
                </a:solidFill>
                <a:latin typeface="Calibri"/>
              </a:rPr>
              <a:t>SESSION 2 · WHAT IS BEING TESTED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8607247" y="274320"/>
            <a:ext cx="3017520" cy="512064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07247" y="274320"/>
            <a:ext cx="64008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1839" y="274320"/>
            <a:ext cx="2743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71" b="1" i="0">
                <a:solidFill>
                  <a:srgbClr val="2E7D5B"/>
                </a:solidFill>
                <a:latin typeface="Calibri"/>
              </a:rPr>
              <a:t>NOTE →  </a:t>
            </a:r>
            <a:r>
              <a:rPr sz="1260" b="1" i="0">
                <a:solidFill>
                  <a:srgbClr val="0E2C4B"/>
                </a:solidFill>
                <a:latin typeface="Calibri"/>
              </a:rPr>
              <a:t>§3.1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8" b="0" i="0">
                <a:solidFill>
                  <a:srgbClr val="6A6A6A"/>
                </a:solidFill>
                <a:latin typeface="Calibri"/>
              </a:rPr>
              <a:t>two failure modes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781171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0E2C4B"/>
                </a:solidFill>
                <a:latin typeface="Calibri"/>
              </a:rPr>
              <a:t>An HPL exception has only two possible causes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554480"/>
            <a:ext cx="110578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89" b="0" i="0">
                <a:solidFill>
                  <a:srgbClr val="1A1A1A"/>
                </a:solidFill>
                <a:latin typeface="Calibri"/>
              </a:rPr>
              <a:t>Trading is excluded by construction, so both of them are the model's.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148840"/>
            <a:ext cx="539496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148840"/>
            <a:ext cx="5394960" cy="82296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3317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23" b="1" i="0">
                <a:solidFill>
                  <a:srgbClr val="C2453C"/>
                </a:solidFill>
                <a:latin typeface="Calibri"/>
              </a:rPr>
              <a:t>1  ·  THE FORECAST DISTRIBUTION IS TOO NARROW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770632"/>
            <a:ext cx="5029200" cy="1600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60" b="0" i="0">
                <a:solidFill>
                  <a:srgbClr val="1A1A1A"/>
                </a:solidFill>
                <a:latin typeface="Calibri"/>
              </a:rPr>
              <a:t>The model assumes market moves are less extreme than they are — understated volatility, correlation, or tail weight. The 99% line is drawn too close in, so it is crossed more often than one day in a hundred.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71" b="1" i="0">
                <a:solidFill>
                  <a:srgbClr val="C2453C"/>
                </a:solidFill>
                <a:latin typeface="Calibri"/>
              </a:rPr>
              <a:t>EXAMPLE   </a:t>
            </a:r>
            <a:r>
              <a:rPr sz="1171" b="0" i="0">
                <a:solidFill>
                  <a:srgbClr val="6A6A6A"/>
                </a:solidFill>
                <a:latin typeface="Calibri"/>
              </a:rPr>
              <a:t>exceptions spread across many desks and many days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6208" y="2148840"/>
            <a:ext cx="539496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6208" y="2148840"/>
            <a:ext cx="5394960" cy="82296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3317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23" b="1" i="0">
                <a:solidFill>
                  <a:srgbClr val="C2453C"/>
                </a:solidFill>
                <a:latin typeface="Calibri"/>
              </a:rPr>
              <a:t>2  ·  THE PRICING OF THE FROZEN BOOK IS WRONG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770632"/>
            <a:ext cx="5029200" cy="1600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60" b="0" i="0">
                <a:solidFill>
                  <a:srgbClr val="1A1A1A"/>
                </a:solidFill>
                <a:latin typeface="Calibri"/>
              </a:rPr>
              <a:t>The model gets the market move right but the portfolio's response to it wrong — a missed convexity, a delta approximation where gamma matters, a mispriced exotic.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71" b="1" i="0">
                <a:solidFill>
                  <a:srgbClr val="C2453C"/>
                </a:solidFill>
                <a:latin typeface="Calibri"/>
              </a:rPr>
              <a:t>EXAMPLE   </a:t>
            </a:r>
            <a:r>
              <a:rPr sz="1171" b="0" i="0">
                <a:solidFill>
                  <a:srgbClr val="6A6A6A"/>
                </a:solidFill>
                <a:latin typeface="Calibri"/>
              </a:rPr>
              <a:t>exceptions concentrated in particular products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709160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701" b="1" i="0">
                <a:solidFill>
                  <a:srgbClr val="0E2C4B"/>
                </a:solidFill>
                <a:latin typeface="Calibri"/>
              </a:rPr>
              <a:t>Neither has anything to do with how the desk traded.  </a:t>
            </a:r>
            <a:r>
              <a:rPr sz="1701" b="0" i="0">
                <a:solidFill>
                  <a:srgbClr val="1A1A1A"/>
                </a:solidFill>
                <a:latin typeface="Calibri"/>
              </a:rPr>
              <a:t>That is what makes the diagnosis actionable — you know which team owns the fix before you start.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5623560"/>
            <a:ext cx="11057839" cy="634959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5623560"/>
            <a:ext cx="82296" cy="634959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5623560"/>
            <a:ext cx="10600639" cy="6349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34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449" b="0" i="0">
                <a:solidFill>
                  <a:srgbClr val="1A1A1A"/>
                </a:solidFill>
                <a:latin typeface="Calibri"/>
              </a:rPr>
              <a:t>The two failure modes have different signatures: one spreads, the other concentrates.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6492240"/>
            <a:ext cx="6309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BCBS MAR32 / MAR33 / CAP30; companion note APL_vs_HPL_Backtesting_Note_v14.docx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13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7728" y="6492240"/>
            <a:ext cx="41056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Note: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§3.1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23" b="1" i="0">
                <a:solidFill>
                  <a:srgbClr val="C2453C"/>
                </a:solidFill>
                <a:latin typeface="Calibri"/>
              </a:rPr>
              <a:t>SESSION 2 · WHAT IS BEING TESTED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8607247" y="274320"/>
            <a:ext cx="3017520" cy="512064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07247" y="274320"/>
            <a:ext cx="64008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1839" y="274320"/>
            <a:ext cx="2743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71" b="1" i="0">
                <a:solidFill>
                  <a:srgbClr val="2E7D5B"/>
                </a:solidFill>
                <a:latin typeface="Calibri"/>
              </a:rPr>
              <a:t>NOTE →  </a:t>
            </a:r>
            <a:r>
              <a:rPr sz="1260" b="1" i="0">
                <a:solidFill>
                  <a:srgbClr val="0E2C4B"/>
                </a:solidFill>
                <a:latin typeface="Calibri"/>
              </a:rPr>
              <a:t>§3.1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8" b="0" i="0">
                <a:solidFill>
                  <a:srgbClr val="6A6A6A"/>
                </a:solidFill>
                <a:latin typeface="Calibri"/>
              </a:rPr>
              <a:t>two failure modes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781171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0E2C4B"/>
                </a:solidFill>
                <a:latin typeface="Calibri"/>
              </a:rPr>
              <a:t>What each failure mode looks like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74519"/>
            <a:ext cx="5349240" cy="2103271"/>
          </a:xfrm>
          <a:prstGeom prst="rect">
            <a:avLst/>
          </a:prstGeom>
        </p:spPr>
      </p:pic>
      <p:pic>
        <p:nvPicPr>
          <p:cNvPr id="9" name="Picture 8" descr="convex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1874519"/>
            <a:ext cx="5349240" cy="218188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1554480"/>
            <a:ext cx="5349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12" b="1" i="0">
                <a:solidFill>
                  <a:srgbClr val="C2453C"/>
                </a:solidFill>
                <a:latin typeface="Calibri"/>
              </a:rPr>
              <a:t>1 · the distribution is too narrow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2784" y="1554480"/>
            <a:ext cx="5349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12" b="1" i="0">
                <a:solidFill>
                  <a:srgbClr val="C2453C"/>
                </a:solidFill>
                <a:latin typeface="Calibri"/>
              </a:rPr>
              <a:t>2 · the pricing of the frozen book is wrong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315968"/>
            <a:ext cx="110578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575" b="1" i="0">
                <a:solidFill>
                  <a:srgbClr val="0E2C4B"/>
                </a:solidFill>
                <a:latin typeface="Calibri"/>
              </a:rPr>
              <a:t>Left:  </a:t>
            </a:r>
            <a:r>
              <a:rPr sz="1575" b="0" i="0">
                <a:solidFill>
                  <a:srgbClr val="1A1A1A"/>
                </a:solidFill>
                <a:latin typeface="Calibri"/>
              </a:rPr>
              <a:t>the model's 99% line is drawn too close in, so real losses cross it far more often than one day in a hundred.   </a:t>
            </a:r>
            <a:r>
              <a:rPr sz="1575" b="1" i="0">
                <a:solidFill>
                  <a:srgbClr val="0E2C4B"/>
                </a:solidFill>
                <a:latin typeface="Calibri"/>
              </a:rPr>
              <a:t>Right:  </a:t>
            </a:r>
            <a:r>
              <a:rPr sz="1575" b="0" i="0">
                <a:solidFill>
                  <a:srgbClr val="1A1A1A"/>
                </a:solidFill>
                <a:latin typeface="Calibri"/>
              </a:rPr>
              <a:t>the model gets the market move right and the book's response to it wrong — the gap only opens on large moves, so it hides in calm markets.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5623560"/>
            <a:ext cx="11057839" cy="634959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5623560"/>
            <a:ext cx="82296" cy="634959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5623560"/>
            <a:ext cx="10600639" cy="6349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34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449" b="0" i="0">
                <a:solidFill>
                  <a:srgbClr val="1A1A1A"/>
                </a:solidFill>
                <a:latin typeface="Calibri"/>
              </a:rPr>
              <a:t>Different signatures: a narrow distribution spreads exceptions across desks and days; bad pricing concentrates them in particular products.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6492240"/>
            <a:ext cx="6309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BCBS MAR32 / MAR33 / CAP30; companion note APL_vs_HPL_Backtesting_Note_v14.docx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67728" y="6492240"/>
            <a:ext cx="41056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Note: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§3.1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23" b="1" i="0">
                <a:solidFill>
                  <a:srgbClr val="C2453C"/>
                </a:solidFill>
                <a:latin typeface="Calibri"/>
              </a:rPr>
              <a:t>SESSION 2 · WHAT IS BEING TESTED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8607247" y="274320"/>
            <a:ext cx="3017520" cy="512064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07247" y="274320"/>
            <a:ext cx="64008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1839" y="274320"/>
            <a:ext cx="2743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71" b="1" i="0">
                <a:solidFill>
                  <a:srgbClr val="2E7D5B"/>
                </a:solidFill>
                <a:latin typeface="Calibri"/>
              </a:rPr>
              <a:t>NOTE →  </a:t>
            </a:r>
            <a:r>
              <a:rPr sz="1260" b="1" i="0">
                <a:solidFill>
                  <a:srgbClr val="0E2C4B"/>
                </a:solidFill>
                <a:latin typeface="Calibri"/>
              </a:rPr>
              <a:t>§3.2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8" b="0" i="0">
                <a:solidFill>
                  <a:srgbClr val="6A6A6A"/>
                </a:solidFill>
                <a:latin typeface="Calibri"/>
              </a:rPr>
              <a:t>what APL tests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781171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0E2C4B"/>
                </a:solidFill>
                <a:latin typeface="Calibri"/>
              </a:rPr>
              <a:t>APL tests the assumption behind the 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595628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517904"/>
            <a:ext cx="744321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764" b="1" i="0">
                <a:solidFill>
                  <a:srgbClr val="0E2C4B"/>
                </a:solidFill>
                <a:latin typeface="Calibri"/>
              </a:rPr>
              <a:t>VaR rests on a snapshot.  </a:t>
            </a:r>
            <a:r>
              <a:rPr sz="1764" b="0" i="0">
                <a:solidFill>
                  <a:srgbClr val="1A1A1A"/>
                </a:solidFill>
                <a:latin typeface="Calibri"/>
              </a:rPr>
              <a:t>the number was produced from one position snapshot, and assumes that snapshot represents the day.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464308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386584"/>
            <a:ext cx="744321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764" b="1" i="0">
                <a:solidFill>
                  <a:srgbClr val="0E2C4B"/>
                </a:solidFill>
                <a:latin typeface="Calibri"/>
              </a:rPr>
              <a:t>APL is what tests that.  </a:t>
            </a:r>
            <a:r>
              <a:rPr sz="1764" b="0" i="0">
                <a:solidFill>
                  <a:srgbClr val="1A1A1A"/>
                </a:solidFill>
                <a:latin typeface="Calibri"/>
              </a:rPr>
              <a:t>a desk can start inside its limits, build and unwind a far larger position during the session, and end flat.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332988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3255264"/>
            <a:ext cx="744321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764" b="1" i="0">
                <a:solidFill>
                  <a:srgbClr val="0E2C4B"/>
                </a:solidFill>
                <a:latin typeface="Calibri"/>
              </a:rPr>
              <a:t>HPL would show nothing.  </a:t>
            </a:r>
            <a:r>
              <a:rPr sz="1764" b="0" i="0">
                <a:solidFill>
                  <a:srgbClr val="1A1A1A"/>
                </a:solidFill>
                <a:latin typeface="Calibri"/>
              </a:rPr>
              <a:t>the frozen book never moved. The risk was real, the P&amp;L was real, and only APL carries 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05088" y="1828800"/>
            <a:ext cx="29260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05088" y="1828800"/>
            <a:ext cx="2926080" cy="64008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51392" y="1993392"/>
            <a:ext cx="263347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46" b="1" i="0">
                <a:solidFill>
                  <a:srgbClr val="C2453C"/>
                </a:solidFill>
                <a:latin typeface="Calibri"/>
              </a:rPr>
              <a:t>the assumption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1392" y="2468880"/>
            <a:ext cx="263347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197" b="1" i="0">
                <a:solidFill>
                  <a:srgbClr val="1A1A1A"/>
                </a:solidFill>
                <a:latin typeface="Calibri"/>
              </a:rPr>
              <a:t>what an APL breach implicates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51392" y="2926080"/>
            <a:ext cx="2633472" cy="23774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8" b="0" i="0">
                <a:solidFill>
                  <a:srgbClr val="6A6A6A"/>
                </a:solidFill>
                <a:latin typeface="Calibri"/>
              </a:rPr>
              <a:t>that a daily snapshot describes exposure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5623560"/>
            <a:ext cx="11057839" cy="634959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5623560"/>
            <a:ext cx="82296" cy="634959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5623560"/>
            <a:ext cx="10600639" cy="6349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34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449" b="0" i="0">
                <a:solidFill>
                  <a:srgbClr val="1A1A1A"/>
                </a:solidFill>
                <a:latin typeface="Calibri"/>
              </a:rPr>
              <a:t>Drop either comparison and one of the two questions goes unasked.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6492240"/>
            <a:ext cx="6309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BCBS MAR32 / MAR33 / CAP30; companion note APL_vs_HPL_Backtesting_Note_v14.docx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8" y="6492240"/>
            <a:ext cx="41056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Note: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§3.2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23" b="1" i="0">
                <a:solidFill>
                  <a:srgbClr val="C2453C"/>
                </a:solidFill>
                <a:latin typeface="Calibri"/>
              </a:rPr>
              <a:t>SESSION 2 · WHAT IS BEING TESTED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8607247" y="274320"/>
            <a:ext cx="3017520" cy="512064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07247" y="274320"/>
            <a:ext cx="64008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1839" y="274320"/>
            <a:ext cx="2743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71" b="1" i="0">
                <a:solidFill>
                  <a:srgbClr val="2E7D5B"/>
                </a:solidFill>
                <a:latin typeface="Calibri"/>
              </a:rPr>
              <a:t>NOTE →  </a:t>
            </a:r>
            <a:r>
              <a:rPr sz="1260" b="1" i="0">
                <a:solidFill>
                  <a:srgbClr val="0E2C4B"/>
                </a:solidFill>
                <a:latin typeface="Calibri"/>
              </a:rPr>
              <a:t>§3.2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8" b="0" i="0">
                <a:solidFill>
                  <a:srgbClr val="6A6A6A"/>
                </a:solidFill>
                <a:latin typeface="Calibri"/>
              </a:rPr>
              <a:t>the position VaR never saw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781171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0E2C4B"/>
                </a:solidFill>
                <a:latin typeface="Calibri"/>
              </a:rPr>
              <a:t>The position VaR never saw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ntraday_brea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767" y="1554480"/>
            <a:ext cx="10424160" cy="402274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66928" y="5623560"/>
            <a:ext cx="11057839" cy="634959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5623560"/>
            <a:ext cx="82296" cy="634959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5623560"/>
            <a:ext cx="10600639" cy="6349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34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449" b="0" i="0">
                <a:solidFill>
                  <a:srgbClr val="1A1A1A"/>
                </a:solidFill>
                <a:latin typeface="Calibri"/>
              </a:rPr>
              <a:t>The book was flat at both closes, so HPL barely moved. The desk still lost 3.4 against a VaR of 2.0 — and only APL carries 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6309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BCBS MAR32 / MAR33 / CAP30; companion note APL_vs_HPL_Backtesting_Note_v14.docx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6492240"/>
            <a:ext cx="41056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Note: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§3.2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23" b="1" i="0">
                <a:solidFill>
                  <a:srgbClr val="C2453C"/>
                </a:solidFill>
                <a:latin typeface="Calibri"/>
              </a:rPr>
              <a:t>SESSION 2 · WHAT IS BEING TESTED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8607247" y="274320"/>
            <a:ext cx="3017520" cy="512064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07247" y="274320"/>
            <a:ext cx="64008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1839" y="274320"/>
            <a:ext cx="2743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71" b="1" i="0">
                <a:solidFill>
                  <a:srgbClr val="2E7D5B"/>
                </a:solidFill>
                <a:latin typeface="Calibri"/>
              </a:rPr>
              <a:t>NOTE →  </a:t>
            </a:r>
            <a:r>
              <a:rPr sz="1260" b="1" i="0">
                <a:solidFill>
                  <a:srgbClr val="0E2C4B"/>
                </a:solidFill>
                <a:latin typeface="Calibri"/>
              </a:rPr>
              <a:t>§4.1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8" b="0" i="0">
                <a:solidFill>
                  <a:srgbClr val="6A6A6A"/>
                </a:solidFill>
                <a:latin typeface="Calibri"/>
              </a:rPr>
              <a:t>model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781171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0E2C4B"/>
                </a:solidFill>
                <a:latin typeface="Calibri"/>
              </a:rPr>
              <a:t>NMRFs belong in the model that is backtested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odel_sco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9567" y="1536192"/>
            <a:ext cx="9052560" cy="312373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4645152"/>
            <a:ext cx="1105783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701" b="1" i="0">
                <a:solidFill>
                  <a:srgbClr val="C2453C"/>
                </a:solidFill>
                <a:latin typeface="Calibri"/>
              </a:rPr>
              <a:t>The trap:  </a:t>
            </a:r>
            <a:r>
              <a:rPr sz="1701" b="0" i="0">
                <a:solidFill>
                  <a:srgbClr val="1A1A1A"/>
                </a:solidFill>
                <a:latin typeface="Calibri"/>
              </a:rPr>
              <a:t>building the backtesting VaR off the capital ES factor set. That set omits non-modellable risk factors by design, because MAR33.16 capitalises them separately — inherit it and the model breaches MAR32.22(1), and PLA breaks with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623560"/>
            <a:ext cx="11057839" cy="634959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5623560"/>
            <a:ext cx="82296" cy="634959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5623560"/>
            <a:ext cx="10600639" cy="6349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34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449" b="0" i="0">
                <a:solidFill>
                  <a:srgbClr val="1A1A1A"/>
                </a:solidFill>
                <a:latin typeface="Calibri"/>
              </a:rPr>
              <a:t>MAR32.16 backtests the desk's risk management model, and MAR32.22(1) requires that model to hold the ES factors and the non-modellable ones.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6492240"/>
            <a:ext cx="6309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BCBS MAR32 / MAR33 / CAP30; companion note APL_vs_HPL_Backtesting_Note_v14.docx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67728" y="6492240"/>
            <a:ext cx="41056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Note: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§4.1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23" b="1" i="0">
                <a:solidFill>
                  <a:srgbClr val="C2453C"/>
                </a:solidFill>
                <a:latin typeface="Calibri"/>
              </a:rPr>
              <a:t>SESSION 2 · WHAT IS BEING TESTED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8607247" y="274320"/>
            <a:ext cx="3017520" cy="512064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07247" y="274320"/>
            <a:ext cx="64008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1839" y="274320"/>
            <a:ext cx="2743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71" b="1" i="0">
                <a:solidFill>
                  <a:srgbClr val="2E7D5B"/>
                </a:solidFill>
                <a:latin typeface="Calibri"/>
              </a:rPr>
              <a:t>NOTE →  </a:t>
            </a:r>
            <a:r>
              <a:rPr sz="1260" b="1" i="0">
                <a:solidFill>
                  <a:srgbClr val="0E2C4B"/>
                </a:solidFill>
                <a:latin typeface="Calibri"/>
              </a:rPr>
              <a:t>§4.2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8" b="0" i="0">
                <a:solidFill>
                  <a:srgbClr val="6A6A6A"/>
                </a:solidFill>
                <a:latin typeface="Calibri"/>
              </a:rPr>
              <a:t>MAR32.23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781171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0E2C4B"/>
                </a:solidFill>
                <a:latin typeface="Calibri"/>
              </a:rPr>
              <a:t>Representation and calibration are different jobs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554480"/>
            <a:ext cx="1105783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827" b="0" i="0">
                <a:solidFill>
                  <a:srgbClr val="1A1A1A"/>
                </a:solidFill>
                <a:latin typeface="Calibri"/>
              </a:rPr>
              <a:t>Failing the eligibility test means you lack </a:t>
            </a:r>
            <a:r>
              <a:rPr sz="1827" b="1" i="0">
                <a:solidFill>
                  <a:srgbClr val="C2453C"/>
                </a:solidFill>
                <a:latin typeface="Calibri"/>
              </a:rPr>
              <a:t>real prices</a:t>
            </a:r>
            <a:r>
              <a:rPr sz="1827" b="0" i="0">
                <a:solidFill>
                  <a:srgbClr val="1A1A1A"/>
                </a:solidFill>
                <a:latin typeface="Calibri"/>
              </a:rPr>
              <a:t>. It does not bar you from forecasting the factor. MAR32.23 draws exactly that line.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9808" y="2487168"/>
          <a:ext cx="10698480" cy="29450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57600"/>
                <a:gridCol w="7040880"/>
              </a:tblGrid>
              <a:tr h="736274">
                <a:tc>
                  <a:txBody>
                    <a:bodyPr wrap="square"/>
                    <a:lstStyle/>
                    <a:p>
                      <a:pPr algn="l"/>
                      <a:r>
                        <a:rPr sz="1260" b="1">
                          <a:solidFill>
                            <a:srgbClr val="FFFFFF"/>
                          </a:solidFill>
                          <a:latin typeface="Calibri"/>
                        </a:rPr>
                        <a:t>The requirement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60" b="1">
                          <a:solidFill>
                            <a:srgbClr val="FFFFFF"/>
                          </a:solidFill>
                          <a:latin typeface="Calibri"/>
                        </a:rPr>
                        <a:t>What it means in practice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</a:tr>
              <a:tr h="736274">
                <a:tc>
                  <a:txBody>
                    <a:bodyPr wrap="square"/>
                    <a:lstStyle/>
                    <a:p>
                      <a:pPr algn="l"/>
                      <a:r>
                        <a:rPr sz="1320" b="0">
                          <a:solidFill>
                            <a:srgbClr val="1A1A1A"/>
                          </a:solidFill>
                          <a:latin typeface="Calibri"/>
                        </a:rPr>
                        <a:t>The risk factor must be represented in the model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20" b="0">
                          <a:solidFill>
                            <a:srgbClr val="1A1A1A"/>
                          </a:solidFill>
                          <a:latin typeface="Calibri"/>
                        </a:rPr>
                        <a:t>It sits in the factor set, drives revaluation, and its actual return flows into RTPL and into HPL.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736274">
                <a:tc>
                  <a:txBody>
                    <a:bodyPr wrap="square"/>
                    <a:lstStyle/>
                    <a:p>
                      <a:pPr algn="l"/>
                      <a:r>
                        <a:rPr sz="1320" b="0">
                          <a:solidFill>
                            <a:srgbClr val="1A1A1A"/>
                          </a:solidFill>
                          <a:latin typeface="Calibri"/>
                        </a:rPr>
                        <a:t>Its forecasting component may use other data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20" b="0">
                          <a:solidFill>
                            <a:srgbClr val="1A1A1A"/>
                          </a:solidFill>
                          <a:latin typeface="Calibri"/>
                        </a:rPr>
                        <a:t>Proxy series, related-factor mapping, alternative or augmented data — whatever supports a defensible distribution where real prices are sparse.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736274">
                <a:tc>
                  <a:txBody>
                    <a:bodyPr wrap="square"/>
                    <a:lstStyle/>
                    <a:p>
                      <a:pPr algn="l"/>
                      <a:r>
                        <a:rPr sz="1320" b="0">
                          <a:solidFill>
                            <a:srgbClr val="1A1A1A"/>
                          </a:solidFill>
                          <a:latin typeface="Calibri"/>
                        </a:rPr>
                        <a:t>Capitalised by neither ES nor SES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20" b="0">
                          <a:solidFill>
                            <a:srgbClr val="1A1A1A"/>
                          </a:solidFill>
                          <a:latin typeface="Calibri"/>
                        </a:rPr>
                        <a:t>Excluded from the risk-theoretical P&amp;L altogether (MAR33.16 FAQ1). The factor set is the union of what ES covers and what SES covers.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66928" y="5623560"/>
            <a:ext cx="11057839" cy="634959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5623560"/>
            <a:ext cx="82296" cy="634959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5623560"/>
            <a:ext cx="10600639" cy="6349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34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449" b="0" i="0">
                <a:solidFill>
                  <a:srgbClr val="1A1A1A"/>
                </a:solidFill>
                <a:latin typeface="Calibri"/>
              </a:rPr>
              <a:t>The eligibility test governs how a factor is capitalised — not whether the risk model may contain 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6492240"/>
            <a:ext cx="6309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BCBS MAR32 / MAR33 / CAP30; companion note APL_vs_HPL_Backtesting_Note_v14.docx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67728" y="6492240"/>
            <a:ext cx="41056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Note: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§4.2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0116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89" b="1" i="0">
                <a:solidFill>
                  <a:srgbClr val="C2453C"/>
                </a:solidFill>
                <a:latin typeface="Calibri"/>
              </a:rPr>
              <a:t>SESSION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468880"/>
            <a:ext cx="10607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200"/>
              </a:spcAft>
            </a:pPr>
            <a:r>
              <a:rPr sz="4284" b="1" i="0">
                <a:solidFill>
                  <a:srgbClr val="FFFFFF"/>
                </a:solidFill>
                <a:latin typeface="Calibri"/>
              </a:rPr>
              <a:t>Valuation Adjustments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3687445"/>
            <a:ext cx="1554480" cy="31750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9319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512" b="1" i="0">
                <a:solidFill>
                  <a:srgbClr val="9DB4CC"/>
                </a:solidFill>
                <a:latin typeface="Calibri"/>
              </a:rPr>
              <a:t>In this session:  </a:t>
            </a:r>
            <a:r>
              <a:rPr sz="1512" b="0" i="0">
                <a:solidFill>
                  <a:srgbClr val="FFFFFF"/>
                </a:solidFill>
                <a:latin typeface="Calibri"/>
              </a:rPr>
              <a:t>The branching half of the boundary.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23" b="1" i="0">
                <a:solidFill>
                  <a:srgbClr val="C2453C"/>
                </a:solidFill>
                <a:latin typeface="Calibri"/>
              </a:rPr>
              <a:t>SESSION 3 · VALUATION ADJUSTMENTS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8607247" y="274320"/>
            <a:ext cx="3017520" cy="512064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07247" y="274320"/>
            <a:ext cx="64008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1839" y="274320"/>
            <a:ext cx="2743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71" b="1" i="0">
                <a:solidFill>
                  <a:srgbClr val="2E7D5B"/>
                </a:solidFill>
                <a:latin typeface="Calibri"/>
              </a:rPr>
              <a:t>NOTE →  </a:t>
            </a:r>
            <a:r>
              <a:rPr sz="1260" b="1" i="0">
                <a:solidFill>
                  <a:srgbClr val="0E2C4B"/>
                </a:solidFill>
                <a:latin typeface="Calibri"/>
              </a:rPr>
              <a:t>§6.1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8" b="0" i="0">
                <a:solidFill>
                  <a:srgbClr val="6A6A6A"/>
                </a:solidFill>
                <a:latin typeface="Calibri"/>
              </a:rPr>
              <a:t>four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781171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0E2C4B"/>
                </a:solidFill>
                <a:latin typeface="Calibri"/>
              </a:rPr>
              <a:t>The standard gives a test, not a list of adjustments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a_g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9567" y="1517904"/>
            <a:ext cx="9052560" cy="349549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66928" y="5623560"/>
            <a:ext cx="11057839" cy="634959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5623560"/>
            <a:ext cx="82296" cy="634959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5623560"/>
            <a:ext cx="10600639" cy="6349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34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449" b="0" i="0">
                <a:solidFill>
                  <a:srgbClr val="1A1A1A"/>
                </a:solidFill>
                <a:latin typeface="Calibri"/>
              </a:rPr>
              <a:t>Four questions settle any adjustment, and the order matters — the first “yes” stops the process.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6309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BCBS MAR32 / MAR33 / CAP30; companion note APL_vs_HPL_Backtesting_Note_v14.docx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6492240"/>
            <a:ext cx="41056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Note: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§6.1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23" b="1" i="0">
                <a:solidFill>
                  <a:srgbClr val="C2453C"/>
                </a:solidFill>
                <a:latin typeface="Calibri"/>
              </a:rPr>
              <a:t>SESSION 3 · VALUATION ADJUSTMENTS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8607247" y="274320"/>
            <a:ext cx="3017520" cy="512064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07247" y="274320"/>
            <a:ext cx="64008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1839" y="274320"/>
            <a:ext cx="2743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71" b="1" i="0">
                <a:solidFill>
                  <a:srgbClr val="2E7D5B"/>
                </a:solidFill>
                <a:latin typeface="Calibri"/>
              </a:rPr>
              <a:t>NOTE →  </a:t>
            </a:r>
            <a:r>
              <a:rPr sz="1260" b="1" i="0">
                <a:solidFill>
                  <a:srgbClr val="0E2C4B"/>
                </a:solidFill>
                <a:latin typeface="Calibri"/>
              </a:rPr>
              <a:t>§6.1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8" b="0" i="0">
                <a:solidFill>
                  <a:srgbClr val="6A6A6A"/>
                </a:solidFill>
                <a:latin typeface="Calibri"/>
              </a:rPr>
              <a:t>questions 1 and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781171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0E2C4B"/>
                </a:solidFill>
                <a:latin typeface="Calibri"/>
              </a:rPr>
              <a:t>Q1 and Q2 ask how capital treats it elsewhere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554480"/>
            <a:ext cx="539496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554480"/>
            <a:ext cx="5394960" cy="82296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7373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23" b="1" i="0">
                <a:solidFill>
                  <a:srgbClr val="C2453C"/>
                </a:solidFill>
                <a:latin typeface="Calibri"/>
              </a:rPr>
              <a:t>QUESTION 1  ·  DOUBLE-COUNTING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176272"/>
            <a:ext cx="502920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60" b="0" i="0">
                <a:solidFill>
                  <a:srgbClr val="1A1A1A"/>
                </a:solidFill>
                <a:latin typeface="Calibri"/>
              </a:rPr>
              <a:t>If an adjustment is already capitalised under its own regime, letting it into a market-risk backtest would charge for the same risk twice.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71" b="1" i="0">
                <a:solidFill>
                  <a:srgbClr val="C2453C"/>
                </a:solidFill>
                <a:latin typeface="Calibri"/>
              </a:rPr>
              <a:t>EXAMPLE   </a:t>
            </a:r>
            <a:r>
              <a:rPr sz="1171" b="0" i="0">
                <a:solidFill>
                  <a:srgbClr val="6A6A6A"/>
                </a:solidFill>
                <a:latin typeface="Calibri"/>
              </a:rPr>
              <a:t>CVA and its associated eligible hedges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6208" y="1554480"/>
            <a:ext cx="539496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1554480"/>
            <a:ext cx="5394960" cy="82296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17373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23" b="1" i="0">
                <a:solidFill>
                  <a:srgbClr val="C2453C"/>
                </a:solidFill>
                <a:latin typeface="Calibri"/>
              </a:rPr>
              <a:t>QUESTION 2  ·  ALREADY REMOVED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176272"/>
            <a:ext cx="502920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60" b="0" i="0">
                <a:solidFill>
                  <a:srgbClr val="1A1A1A"/>
                </a:solidFill>
                <a:latin typeface="Calibri"/>
              </a:rPr>
              <a:t>An adjustment deducted from CET1 has been taken out of capital directly, so it does not belong in the P&amp;L being tested.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71" b="1" i="0">
                <a:solidFill>
                  <a:srgbClr val="C2453C"/>
                </a:solidFill>
                <a:latin typeface="Calibri"/>
              </a:rPr>
              <a:t>EXAMPLE   </a:t>
            </a:r>
            <a:r>
              <a:rPr sz="1171" b="0" i="0">
                <a:solidFill>
                  <a:srgbClr val="6A6A6A"/>
                </a:solidFill>
                <a:latin typeface="Calibri"/>
              </a:rPr>
              <a:t>DVA — the own-credit gain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114800"/>
            <a:ext cx="1105783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64" b="0" i="0">
                <a:solidFill>
                  <a:srgbClr val="1A1A1A"/>
                </a:solidFill>
                <a:latin typeface="Calibri"/>
              </a:rPr>
              <a:t>Both tests are about the </a:t>
            </a:r>
            <a:r>
              <a:rPr sz="1764" b="1" i="0">
                <a:solidFill>
                  <a:srgbClr val="0E2C4B"/>
                </a:solidFill>
                <a:latin typeface="Calibri"/>
              </a:rPr>
              <a:t>treatment</a:t>
            </a:r>
            <a:r>
              <a:rPr sz="1764" b="0" i="0">
                <a:solidFill>
                  <a:srgbClr val="1A1A1A"/>
                </a:solidFill>
                <a:latin typeface="Calibri"/>
              </a:rPr>
              <a:t> the adjustment receives elsewhere in the capital stack — not what it is called.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638" b="0" i="0">
                <a:solidFill>
                  <a:srgbClr val="6A6A6A"/>
                </a:solidFill>
                <a:latin typeface="Calibri"/>
              </a:rPr>
              <a:t>That is why prudent-valuation AVAs leave both measures too: they are CET1 deductions, so question 2 catches them even though MAR32.26 names only DVA.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5623560"/>
            <a:ext cx="11057839" cy="634959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5623560"/>
            <a:ext cx="82296" cy="634959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5623560"/>
            <a:ext cx="10600639" cy="6349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34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449" b="0" i="0">
                <a:solidFill>
                  <a:srgbClr val="1A1A1A"/>
                </a:solidFill>
                <a:latin typeface="Calibri"/>
              </a:rPr>
              <a:t>CVA and DVA are economic mirror images, and both leave these measures — by different gates.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6492240"/>
            <a:ext cx="6309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BCBS MAR32 / MAR33 / CAP30; companion note APL_vs_HPL_Backtesting_Note_v14.docx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67728" y="6492240"/>
            <a:ext cx="41056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Note: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§6.1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23" b="1" i="0">
                <a:solidFill>
                  <a:srgbClr val="C2453C"/>
                </a:solidFill>
                <a:latin typeface="Calibri"/>
              </a:rPr>
              <a:t>SESSION 3 · VALUATION ADJUSTMENTS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8607247" y="274320"/>
            <a:ext cx="3017520" cy="512064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07247" y="274320"/>
            <a:ext cx="64008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1839" y="274320"/>
            <a:ext cx="2743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71" b="1" i="0">
                <a:solidFill>
                  <a:srgbClr val="2E7D5B"/>
                </a:solidFill>
                <a:latin typeface="Calibri"/>
              </a:rPr>
              <a:t>NOTE →  </a:t>
            </a:r>
            <a:r>
              <a:rPr sz="1260" b="1" i="0">
                <a:solidFill>
                  <a:srgbClr val="0E2C4B"/>
                </a:solidFill>
                <a:latin typeface="Calibri"/>
              </a:rPr>
              <a:t>§6.1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8" b="0" i="0">
                <a:solidFill>
                  <a:srgbClr val="6A6A6A"/>
                </a:solidFill>
                <a:latin typeface="Calibri"/>
              </a:rPr>
              <a:t>the DVA callout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781171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0E2C4B"/>
                </a:solidFill>
                <a:latin typeface="Calibri"/>
              </a:rPr>
              <a:t>“Deducted from CET1” is a reversal, not a penalty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49808" y="1554480"/>
          <a:ext cx="10698480" cy="23203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360"/>
                <a:gridCol w="6675120"/>
                <a:gridCol w="2286000"/>
              </a:tblGrid>
              <a:tr h="580095">
                <a:tc>
                  <a:txBody>
                    <a:bodyPr wrap="square"/>
                    <a:lstStyle/>
                    <a:p>
                      <a:pPr algn="l"/>
                      <a:r>
                        <a:rPr sz="132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20" b="1">
                          <a:solidFill>
                            <a:srgbClr val="FFFFFF"/>
                          </a:solidFill>
                          <a:latin typeface="Calibri"/>
                        </a:rPr>
                        <a:t>What happens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20" b="1">
                          <a:solidFill>
                            <a:srgbClr val="FFFFFF"/>
                          </a:solidFill>
                          <a:latin typeface="Calibri"/>
                        </a:rPr>
                        <a:t>Effect on capital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</a:tr>
              <a:tr h="580095">
                <a:tc>
                  <a:txBody>
                    <a:bodyPr wrap="square"/>
                    <a:lstStyle/>
                    <a:p>
                      <a:pPr algn="l"/>
                      <a:r>
                        <a:rPr sz="1380" b="1">
                          <a:solidFill>
                            <a:srgbClr val="1A1A1A"/>
                          </a:solidFill>
                          <a:latin typeface="Calibri"/>
                        </a:rPr>
                        <a:t>Accounting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80" b="0">
                          <a:solidFill>
                            <a:srgbClr val="1A1A1A"/>
                          </a:solidFill>
                          <a:latin typeface="Calibri"/>
                        </a:rPr>
                        <a:t>Own credit deteriorates → liabilities are worth less → the bank books a gain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80" b="1">
                          <a:solidFill>
                            <a:srgbClr val="2E7D5B"/>
                          </a:solidFill>
                          <a:latin typeface="Calibri"/>
                        </a:rPr>
                        <a:t>equity rises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580095">
                <a:tc>
                  <a:txBody>
                    <a:bodyPr wrap="square"/>
                    <a:lstStyle/>
                    <a:p>
                      <a:pPr algn="l"/>
                      <a:r>
                        <a:rPr sz="1380" b="1">
                          <a:solidFill>
                            <a:srgbClr val="1A1A1A"/>
                          </a:solidFill>
                          <a:latin typeface="Calibri"/>
                        </a:rPr>
                        <a:t>Basel III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80" b="0">
                          <a:solidFill>
                            <a:srgbClr val="1A1A1A"/>
                          </a:solidFill>
                          <a:latin typeface="Calibri"/>
                        </a:rPr>
                        <a:t>That own-credit gain is deducted from CET1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80" b="1">
                          <a:solidFill>
                            <a:srgbClr val="C2453C"/>
                          </a:solidFill>
                          <a:latin typeface="Calibri"/>
                        </a:rPr>
                        <a:t>removed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580095">
                <a:tc>
                  <a:txBody>
                    <a:bodyPr wrap="square"/>
                    <a:lstStyle/>
                    <a:p>
                      <a:pPr algn="l"/>
                      <a:r>
                        <a:rPr sz="1380" b="1">
                          <a:solidFill>
                            <a:srgbClr val="1A1A1A"/>
                          </a:solidFill>
                          <a:latin typeface="Calibri"/>
                        </a:rPr>
                        <a:t>Net position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80" b="0">
                          <a:solidFill>
                            <a:srgbClr val="1A1A1A"/>
                          </a:solidFill>
                          <a:latin typeface="Calibri"/>
                        </a:rPr>
                        <a:t>The bank is put back to neutral, not penalised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80" b="1">
                          <a:solidFill>
                            <a:srgbClr val="0E2C4B"/>
                          </a:solidFill>
                          <a:latin typeface="Calibri"/>
                        </a:rPr>
                        <a:t>zero benefit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4009644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3931920"/>
            <a:ext cx="108200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575" b="1" i="0">
                <a:solidFill>
                  <a:srgbClr val="0E2C4B"/>
                </a:solidFill>
                <a:latin typeface="Calibri"/>
              </a:rPr>
              <a:t>CAP30.15 says derecognise, not deduct.  </a:t>
            </a:r>
            <a:r>
              <a:rPr sz="1575" b="0" i="0">
                <a:solidFill>
                  <a:srgbClr val="1A1A1A"/>
                </a:solidFill>
                <a:latin typeface="Calibri"/>
              </a:rPr>
              <a:t>all unrealised gains and losses due to own credit risk, plus all valuation adjustments on derivative liabilities.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4521708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4443984"/>
            <a:ext cx="108200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575" b="1" i="0">
                <a:solidFill>
                  <a:srgbClr val="0E2C4B"/>
                </a:solidFill>
                <a:latin typeface="Calibri"/>
              </a:rPr>
              <a:t>So it is symmetric.  </a:t>
            </a:r>
            <a:r>
              <a:rPr sz="1575" b="0" i="0">
                <a:solidFill>
                  <a:srgbClr val="1A1A1A"/>
                </a:solidFill>
                <a:latin typeface="Calibri"/>
              </a:rPr>
              <a:t>an own-credit improvement is filtered out on the same basis — not a one-way ratchet.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5033772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4956048"/>
            <a:ext cx="108200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575" b="1" i="0">
                <a:solidFill>
                  <a:srgbClr val="0E2C4B"/>
                </a:solidFill>
                <a:latin typeface="Calibri"/>
              </a:rPr>
              <a:t>CVA and DVA may not be netted.  </a:t>
            </a:r>
            <a:r>
              <a:rPr sz="1575" b="0" i="0">
                <a:solidFill>
                  <a:srgbClr val="1A1A1A"/>
                </a:solidFill>
                <a:latin typeface="Calibri"/>
              </a:rPr>
              <a:t>CAP30.15 prohibits offsetting own-credit against counterparty-credit adjustments.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5623560"/>
            <a:ext cx="11057839" cy="634959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5623560"/>
            <a:ext cx="82296" cy="634959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5623560"/>
            <a:ext cx="10600639" cy="6349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34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449" b="0" i="0">
                <a:solidFill>
                  <a:srgbClr val="1A1A1A"/>
                </a:solidFill>
                <a:latin typeface="Calibri"/>
              </a:rPr>
              <a:t>Derecognition is the mechanism that stops a bank booking capital benefit as its own credit quality worsens.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92240"/>
            <a:ext cx="6309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BCBS MAR32 / MAR33 / CAP30; companion note APL_vs_HPL_Backtesting_Note_v14.docx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22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67728" y="6492240"/>
            <a:ext cx="41056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Note: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§6.1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23" b="1" i="0">
                <a:solidFill>
                  <a:srgbClr val="C2453C"/>
                </a:solidFill>
                <a:latin typeface="Calibri"/>
              </a:rPr>
              <a:t>SESSION 3 · VALUATION ADJUSTMENTS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8607247" y="274320"/>
            <a:ext cx="3017520" cy="512064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07247" y="274320"/>
            <a:ext cx="64008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1839" y="274320"/>
            <a:ext cx="2743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71" b="1" i="0">
                <a:solidFill>
                  <a:srgbClr val="2E7D5B"/>
                </a:solidFill>
                <a:latin typeface="Calibri"/>
              </a:rPr>
              <a:t>NOTE →  </a:t>
            </a:r>
            <a:r>
              <a:rPr sz="1260" b="1" i="0">
                <a:solidFill>
                  <a:srgbClr val="0E2C4B"/>
                </a:solidFill>
                <a:latin typeface="Calibri"/>
              </a:rPr>
              <a:t>§6.1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8" b="0" i="0">
                <a:solidFill>
                  <a:srgbClr val="6A6A6A"/>
                </a:solidFill>
                <a:latin typeface="Calibri"/>
              </a:rPr>
              <a:t>question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781171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0E2C4B"/>
                </a:solidFill>
                <a:latin typeface="Calibri"/>
              </a:rPr>
              <a:t>Question 4 is what splits the two measures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554480"/>
            <a:ext cx="110578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89" b="0" i="0">
                <a:solidFill>
                  <a:srgbClr val="1A1A1A"/>
                </a:solidFill>
                <a:latin typeface="Calibri"/>
              </a:rPr>
              <a:t>And it is a fact about the bank's </a:t>
            </a:r>
            <a:r>
              <a:rPr sz="1889" b="1" i="0">
                <a:solidFill>
                  <a:srgbClr val="C2453C"/>
                </a:solidFill>
                <a:latin typeface="Calibri"/>
              </a:rPr>
              <a:t>process</a:t>
            </a:r>
            <a:r>
              <a:rPr sz="1889" b="0" i="0">
                <a:solidFill>
                  <a:srgbClr val="1A1A1A"/>
                </a:solidFill>
                <a:latin typeface="Calibri"/>
              </a:rPr>
              <a:t>, not about the adjustment itself.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286000"/>
            <a:ext cx="53949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286000"/>
            <a:ext cx="5394960" cy="82296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4688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23" b="1" i="0">
                <a:solidFill>
                  <a:srgbClr val="2E7D5B"/>
                </a:solidFill>
                <a:latin typeface="Calibri"/>
              </a:rPr>
              <a:t>RECALCULATED DAILY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907792"/>
            <a:ext cx="5029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60" b="0" i="0">
                <a:solidFill>
                  <a:srgbClr val="1A1A1A"/>
                </a:solidFill>
                <a:latin typeface="Calibri"/>
              </a:rPr>
              <a:t>The same reserve sits in both APL and HPL.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71" b="1" i="0">
                <a:solidFill>
                  <a:srgbClr val="2E7D5B"/>
                </a:solidFill>
                <a:latin typeface="Calibri"/>
              </a:rPr>
              <a:t>EXAMPLE   </a:t>
            </a:r>
            <a:r>
              <a:rPr sz="1171" b="0" i="0">
                <a:solidFill>
                  <a:srgbClr val="6A6A6A"/>
                </a:solidFill>
                <a:latin typeface="Calibri"/>
              </a:rPr>
              <a:t>bid-offer on a liquid rates or FX book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6208" y="2286000"/>
            <a:ext cx="53949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6208" y="2286000"/>
            <a:ext cx="5394960" cy="82296"/>
          </a:xfrm>
          <a:prstGeom prst="rect">
            <a:avLst/>
          </a:prstGeom>
          <a:solidFill>
            <a:srgbClr val="B8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4688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23" b="1" i="0">
                <a:solidFill>
                  <a:srgbClr val="B8862E"/>
                </a:solidFill>
                <a:latin typeface="Calibri"/>
              </a:rPr>
              <a:t>RECALCULATED MONTHLY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907792"/>
            <a:ext cx="5029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60" b="0" i="0">
                <a:solidFill>
                  <a:srgbClr val="1A1A1A"/>
                </a:solidFill>
                <a:latin typeface="Calibri"/>
              </a:rPr>
              <a:t>The reserve sits in APL alone, and may not be smoothed.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71" b="1" i="0">
                <a:solidFill>
                  <a:srgbClr val="B8862E"/>
                </a:solidFill>
                <a:latin typeface="Calibri"/>
              </a:rPr>
              <a:t>EXAMPLE   </a:t>
            </a:r>
            <a:r>
              <a:rPr sz="1171" b="0" i="0">
                <a:solidFill>
                  <a:srgbClr val="6A6A6A"/>
                </a:solidFill>
                <a:latin typeface="Calibri"/>
              </a:rPr>
              <a:t>model-uncertainty or concentration reserves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4018787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3941063"/>
            <a:ext cx="108200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575" b="1" i="0">
                <a:solidFill>
                  <a:srgbClr val="0E2C4B"/>
                </a:solidFill>
                <a:latin typeface="Calibri"/>
              </a:rPr>
              <a:t>What actually blocks a daily calculation.  </a:t>
            </a:r>
            <a:r>
              <a:rPr sz="1575" b="0" i="0">
                <a:solidFill>
                  <a:srgbClr val="1A1A1A"/>
                </a:solidFill>
                <a:latin typeface="Calibri"/>
              </a:rPr>
              <a:t>rarely the arithmetic. Bid-offer spreads on liquid instruments arrive from data providers and market makers every day, and most banks do post that reserve daily.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4732019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4654295"/>
            <a:ext cx="108200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575" b="1" i="0">
                <a:solidFill>
                  <a:srgbClr val="0E2C4B"/>
                </a:solidFill>
                <a:latin typeface="Calibri"/>
              </a:rPr>
              <a:t>It is the input that binds.  </a:t>
            </a:r>
            <a:r>
              <a:rPr sz="1575" b="0" i="0">
                <a:solidFill>
                  <a:srgbClr val="1A1A1A"/>
                </a:solidFill>
                <a:latin typeface="Calibri"/>
              </a:rPr>
              <a:t>exotic and illiquid positions have no observable two-way market, so spreads come from monthly consensus services or periodic broker surveys.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5623560"/>
            <a:ext cx="11057839" cy="634959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5623560"/>
            <a:ext cx="82296" cy="634959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5623560"/>
            <a:ext cx="10600639" cy="6349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34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449" b="0" i="0">
                <a:solidFill>
                  <a:srgbClr val="1A1A1A"/>
                </a:solidFill>
                <a:latin typeface="Calibri"/>
              </a:rPr>
              <a:t>Two banks holding the identical reserve can place it differently, purely because one recalculates it daily and the other does not.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6492240"/>
            <a:ext cx="6309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BCBS MAR32 / MAR33 / CAP30; companion note APL_vs_HPL_Backtesting_Note_v14.docx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23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7728" y="6492240"/>
            <a:ext cx="41056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Note: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§6.1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23" b="1" i="0">
                <a:solidFill>
                  <a:srgbClr val="C2453C"/>
                </a:solidFill>
                <a:latin typeface="Calibri"/>
              </a:rPr>
              <a:t>SESSION 3 · VALUATION ADJUSTMENTS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8607247" y="274320"/>
            <a:ext cx="3017520" cy="512064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07247" y="274320"/>
            <a:ext cx="64008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1839" y="274320"/>
            <a:ext cx="2743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71" b="1" i="0">
                <a:solidFill>
                  <a:srgbClr val="2E7D5B"/>
                </a:solidFill>
                <a:latin typeface="Calibri"/>
              </a:rPr>
              <a:t>NOTE →  </a:t>
            </a:r>
            <a:r>
              <a:rPr sz="1260" b="1" i="0">
                <a:solidFill>
                  <a:srgbClr val="0E2C4B"/>
                </a:solidFill>
                <a:latin typeface="Calibri"/>
              </a:rPr>
              <a:t>§6.2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8" b="0" i="0">
                <a:solidFill>
                  <a:srgbClr val="6A6A6A"/>
                </a:solidFill>
                <a:latin typeface="Calibri"/>
              </a:rPr>
              <a:t>the no-smoothing rule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781171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0E2C4B"/>
                </a:solidFill>
                <a:latin typeface="Calibri"/>
              </a:rPr>
              <a:t>A monthly reserve lands whole, in APL alone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a_di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967" y="1572768"/>
            <a:ext cx="9509760" cy="341363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66928" y="5623560"/>
            <a:ext cx="11057839" cy="634959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5623560"/>
            <a:ext cx="82296" cy="634959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5623560"/>
            <a:ext cx="10600639" cy="6349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34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449" b="0" i="0">
                <a:solidFill>
                  <a:srgbClr val="1A1A1A"/>
                </a:solidFill>
                <a:latin typeface="Calibri"/>
              </a:rPr>
              <a:t>A reserve revision can push APL through VaR on a day when HPL is unremarkable — an exception caused by a valuation calendar, not by the market. It still counts.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6309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BCBS MAR32 / MAR33 / CAP30; companion note APL_vs_HPL_Backtesting_Note_v14.docx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6492240"/>
            <a:ext cx="41056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Note: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§6.2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23" b="1" i="0">
                <a:solidFill>
                  <a:srgbClr val="C2453C"/>
                </a:solidFill>
                <a:latin typeface="Calibri"/>
              </a:rPr>
              <a:t>SESSION 3 · VALUATION ADJUSTMENTS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8607247" y="274320"/>
            <a:ext cx="3017520" cy="512064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07247" y="274320"/>
            <a:ext cx="64008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1839" y="274320"/>
            <a:ext cx="2743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71" b="1" i="0">
                <a:solidFill>
                  <a:srgbClr val="2E7D5B"/>
                </a:solidFill>
                <a:latin typeface="Calibri"/>
              </a:rPr>
              <a:t>NOTE →  </a:t>
            </a:r>
            <a:r>
              <a:rPr sz="1260" b="1" i="0">
                <a:solidFill>
                  <a:srgbClr val="0E2C4B"/>
                </a:solidFill>
                <a:latin typeface="Calibri"/>
              </a:rPr>
              <a:t>§6.3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8" b="0" i="0">
                <a:solidFill>
                  <a:srgbClr val="6A6A6A"/>
                </a:solidFill>
                <a:latin typeface="Calibri"/>
              </a:rPr>
              <a:t>bid-offer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781171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0E2C4B"/>
                </a:solidFill>
                <a:latin typeface="Calibri"/>
              </a:rPr>
              <a:t>Only one of bid-offer's two drivers is the market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595628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517904"/>
            <a:ext cx="108200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701" b="1" i="0">
                <a:solidFill>
                  <a:srgbClr val="0E2C4B"/>
                </a:solidFill>
                <a:latin typeface="Calibri"/>
              </a:rPr>
              <a:t>Books are marked at mid.  </a:t>
            </a:r>
            <a:r>
              <a:rPr sz="1701" b="0" i="0">
                <a:solidFill>
                  <a:srgbClr val="1A1A1A"/>
                </a:solidFill>
                <a:latin typeface="Calibri"/>
              </a:rPr>
              <a:t>but a position is exited at the bid or the offer. A bid-offer reserve bridges that gap.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63724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286000"/>
            <a:ext cx="108200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701" b="1" i="0">
                <a:solidFill>
                  <a:srgbClr val="0E2C4B"/>
                </a:solidFill>
                <a:latin typeface="Calibri"/>
              </a:rPr>
              <a:t>Sized the usual way.  </a:t>
            </a:r>
            <a:r>
              <a:rPr sz="1701" b="0" i="0">
                <a:solidFill>
                  <a:srgbClr val="1A1A1A"/>
                </a:solidFill>
                <a:latin typeface="Calibri"/>
              </a:rPr>
              <a:t>net risk in each bucket × half the quoted spread. The standard does not prescribe the methodology — it only decides where the resulting P&amp;L goes.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131820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3054096"/>
            <a:ext cx="108200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701" b="1" i="0">
                <a:solidFill>
                  <a:srgbClr val="0E2C4B"/>
                </a:solidFill>
                <a:latin typeface="Calibri"/>
              </a:rPr>
              <a:t>Driver one: the spread.  </a:t>
            </a:r>
            <a:r>
              <a:rPr sz="1701" b="0" i="0">
                <a:solidFill>
                  <a:srgbClr val="1A1A1A"/>
                </a:solidFill>
                <a:latin typeface="Calibri"/>
              </a:rPr>
              <a:t>widens and narrows with the market. Both measures see this.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3899916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822192"/>
            <a:ext cx="108200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701" b="1" i="0">
                <a:solidFill>
                  <a:srgbClr val="0E2C4B"/>
                </a:solidFill>
                <a:latin typeface="Calibri"/>
              </a:rPr>
              <a:t>Driver two: the position.  </a:t>
            </a:r>
            <a:r>
              <a:rPr sz="1701" b="0" i="0">
                <a:solidFill>
                  <a:srgbClr val="1A1A1A"/>
                </a:solidFill>
                <a:latin typeface="Calibri"/>
              </a:rPr>
              <a:t>changes when the desk trades. Only APL sees this, because HPL is still holding yesterday's book.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749808" y="4315968"/>
          <a:ext cx="10698480" cy="107094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2926080"/>
                <a:gridCol w="5029200"/>
              </a:tblGrid>
              <a:tr h="356981">
                <a:tc>
                  <a:txBody>
                    <a:bodyPr wrap="square"/>
                    <a:lstStyle/>
                    <a:p>
                      <a:pPr algn="l"/>
                      <a:r>
                        <a:rPr sz="126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60" b="1">
                          <a:solidFill>
                            <a:srgbClr val="FFFFFF"/>
                          </a:solidFill>
                          <a:latin typeface="Calibri"/>
                        </a:rPr>
                        <a:t>At t-1 close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60" b="1">
                          <a:solidFill>
                            <a:srgbClr val="FFFFFF"/>
                          </a:solidFill>
                          <a:latin typeface="Calibri"/>
                        </a:rPr>
                        <a:t>At t close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</a:tr>
              <a:tr h="356981">
                <a:tc>
                  <a:txBody>
                    <a:bodyPr wrap="square"/>
                    <a:lstStyle/>
                    <a:p>
                      <a:pPr algn="l"/>
                      <a:r>
                        <a:rPr sz="1320" b="1">
                          <a:solidFill>
                            <a:srgbClr val="1A1A1A"/>
                          </a:solidFill>
                          <a:latin typeface="Calibri"/>
                        </a:rPr>
                        <a:t>Net PV01, 10y bucket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20" b="0">
                          <a:solidFill>
                            <a:srgbClr val="1A1A1A"/>
                          </a:solidFill>
                          <a:latin typeface="Calibri"/>
                        </a:rPr>
                        <a:t>EUR 80,000 / bp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20" b="1">
                          <a:solidFill>
                            <a:srgbClr val="C2453C"/>
                          </a:solidFill>
                          <a:latin typeface="Calibri"/>
                        </a:rPr>
                        <a:t>EUR 140,000 / bp   (desk added risk)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356981">
                <a:tc>
                  <a:txBody>
                    <a:bodyPr wrap="square"/>
                    <a:lstStyle/>
                    <a:p>
                      <a:pPr algn="l"/>
                      <a:r>
                        <a:rPr sz="1320" b="1">
                          <a:solidFill>
                            <a:srgbClr val="1A1A1A"/>
                          </a:solidFill>
                          <a:latin typeface="Calibri"/>
                        </a:rPr>
                        <a:t>Half bid-offer spread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20" b="0">
                          <a:solidFill>
                            <a:srgbClr val="1A1A1A"/>
                          </a:solidFill>
                          <a:latin typeface="Calibri"/>
                        </a:rPr>
                        <a:t>0.20 bp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20" b="1">
                          <a:solidFill>
                            <a:srgbClr val="C2453C"/>
                          </a:solidFill>
                          <a:latin typeface="Calibri"/>
                        </a:rPr>
                        <a:t>0.30 bp   (spreads widened)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566928" y="5623560"/>
            <a:ext cx="11057839" cy="634959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5623560"/>
            <a:ext cx="82296" cy="634959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5623560"/>
            <a:ext cx="10600639" cy="6349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34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449" b="0" i="0">
                <a:solidFill>
                  <a:srgbClr val="1A1A1A"/>
                </a:solidFill>
                <a:latin typeface="Calibri"/>
              </a:rPr>
              <a:t>Same formula, same widened spread. The two measures differ only in which book they apply it to.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6492240"/>
            <a:ext cx="6309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BCBS MAR32 / MAR33 / CAP30; companion note APL_vs_HPL_Backtesting_Note_v14.docx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67728" y="6492240"/>
            <a:ext cx="41056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Note: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§6.3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23" b="1" i="0">
                <a:solidFill>
                  <a:srgbClr val="C2453C"/>
                </a:solidFill>
                <a:latin typeface="Calibri"/>
              </a:rPr>
              <a:t>SESSION 3 · VALUATION ADJUSTMENTS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8607247" y="274320"/>
            <a:ext cx="3017520" cy="512064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07247" y="274320"/>
            <a:ext cx="64008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1839" y="274320"/>
            <a:ext cx="2743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71" b="1" i="0">
                <a:solidFill>
                  <a:srgbClr val="2E7D5B"/>
                </a:solidFill>
                <a:latin typeface="Calibri"/>
              </a:rPr>
              <a:t>NOTE →  </a:t>
            </a:r>
            <a:r>
              <a:rPr sz="1260" b="1" i="0">
                <a:solidFill>
                  <a:srgbClr val="0E2C4B"/>
                </a:solidFill>
                <a:latin typeface="Calibri"/>
              </a:rPr>
              <a:t>§6.3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8" b="0" i="0">
                <a:solidFill>
                  <a:srgbClr val="6A6A6A"/>
                </a:solidFill>
                <a:latin typeface="Calibri"/>
              </a:rPr>
              <a:t>the split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781171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0E2C4B"/>
                </a:solidFill>
                <a:latin typeface="Calibri"/>
              </a:rPr>
              <a:t>The 18k gap is intraday position building, priced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idoff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407" y="1572768"/>
            <a:ext cx="9326880" cy="3683407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66928" y="5623560"/>
            <a:ext cx="11057839" cy="634959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5623560"/>
            <a:ext cx="82296" cy="634959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5623560"/>
            <a:ext cx="10600639" cy="6349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34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449" b="0" i="0">
                <a:solidFill>
                  <a:srgbClr val="1A1A1A"/>
                </a:solidFill>
                <a:latin typeface="Calibri"/>
              </a:rPr>
              <a:t>Not a market move and not a model failure. The desk carried more risk through the widening than the frozen book did.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6309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BCBS MAR32 / MAR33 / CAP30; companion note APL_vs_HPL_Backtesting_Note_v14.docx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6492240"/>
            <a:ext cx="41056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Note: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§6.3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23" b="1" i="0">
                <a:solidFill>
                  <a:srgbClr val="C2453C"/>
                </a:solidFill>
                <a:latin typeface="Calibri"/>
              </a:rPr>
              <a:t>SESSION 3 · VALUATION ADJUSTMENTS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8607247" y="274320"/>
            <a:ext cx="3017520" cy="512064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07247" y="274320"/>
            <a:ext cx="64008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1839" y="274320"/>
            <a:ext cx="2743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71" b="1" i="0">
                <a:solidFill>
                  <a:srgbClr val="2E7D5B"/>
                </a:solidFill>
                <a:latin typeface="Calibri"/>
              </a:rPr>
              <a:t>NOTE →  </a:t>
            </a:r>
            <a:r>
              <a:rPr sz="1260" b="1" i="0">
                <a:solidFill>
                  <a:srgbClr val="0E2C4B"/>
                </a:solidFill>
                <a:latin typeface="Calibri"/>
              </a:rPr>
              <a:t>§6.3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8" b="0" i="0">
                <a:solidFill>
                  <a:srgbClr val="6A6A6A"/>
                </a:solidFill>
                <a:latin typeface="Calibri"/>
              </a:rPr>
              <a:t>two traps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781171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0E2C4B"/>
                </a:solidFill>
                <a:latin typeface="Calibri"/>
              </a:rPr>
              <a:t>Two traps sit next to this example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554480"/>
            <a:ext cx="539496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554480"/>
            <a:ext cx="5394960" cy="82296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7373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23" b="1" i="0">
                <a:solidFill>
                  <a:srgbClr val="C2453C"/>
                </a:solidFill>
                <a:latin typeface="Calibri"/>
              </a:rPr>
              <a:t>TRAP 1  ·  “VaR IS MID-TO-MID, SO BID-OFFER IS OUT”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176272"/>
            <a:ext cx="5029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60" b="0" i="0">
                <a:solidFill>
                  <a:srgbClr val="1A1A1A"/>
                </a:solidFill>
                <a:latin typeface="Calibri"/>
              </a:rPr>
              <a:t>What VaR measures has no bearing on what APL and HPL contain. A bid-offer reserve recalculated daily is market-risk related, so it is in both. What leaves both is fees and commissions — a different thing entirely.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6208" y="1554480"/>
            <a:ext cx="539496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1554480"/>
            <a:ext cx="5394960" cy="82296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17373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23" b="1" i="0">
                <a:solidFill>
                  <a:srgbClr val="C2453C"/>
                </a:solidFill>
                <a:latin typeface="Calibri"/>
              </a:rPr>
              <a:t>TRAP 2  ·  THE RESERVE IS NOT THE AVA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176272"/>
            <a:ext cx="5029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60" b="0" i="0">
                <a:solidFill>
                  <a:srgbClr val="1A1A1A"/>
                </a:solidFill>
                <a:latin typeface="Calibri"/>
              </a:rPr>
              <a:t>The accounting bid-offer reserve hits fair value and P&amp;L, so it is in APL and in HPL if daily. The close-out cost AVA under prudent valuation is a CET1 deduction, so it leaves both at question 2.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434840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764" b="1" i="0">
                <a:solidFill>
                  <a:srgbClr val="0E2C4B"/>
                </a:solidFill>
                <a:latin typeface="Calibri"/>
              </a:rPr>
              <a:t>Same underlying spread, opposite destinations.  </a:t>
            </a:r>
            <a:r>
              <a:rPr sz="1764" b="0" i="0">
                <a:solidFill>
                  <a:srgbClr val="1A1A1A"/>
                </a:solidFill>
                <a:latin typeface="Calibri"/>
              </a:rPr>
              <a:t>Running the two together is a genuine reconciliation break, not a naming quibble.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5623560"/>
            <a:ext cx="11057839" cy="634959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5623560"/>
            <a:ext cx="82296" cy="634959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5623560"/>
            <a:ext cx="10600639" cy="6349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34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449" b="0" i="0">
                <a:solidFill>
                  <a:srgbClr val="1A1A1A"/>
                </a:solidFill>
                <a:latin typeface="Calibri"/>
              </a:rPr>
              <a:t>Both traps come from reasoning about what a number is called rather than how capital already treats it.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6492240"/>
            <a:ext cx="6309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BCBS MAR32 / MAR33 / CAP30; companion note APL_vs_HPL_Backtesting_Note_v14.docx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67728" y="6492240"/>
            <a:ext cx="41056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Note: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§6.3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23" b="1" i="0">
                <a:solidFill>
                  <a:srgbClr val="C2453C"/>
                </a:solidFill>
                <a:latin typeface="Calibri"/>
              </a:rPr>
              <a:t>SESSION 3 · VALUATION ADJUSTMENTS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8607247" y="274320"/>
            <a:ext cx="3017520" cy="512064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07247" y="274320"/>
            <a:ext cx="64008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1839" y="274320"/>
            <a:ext cx="2743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71" b="1" i="0">
                <a:solidFill>
                  <a:srgbClr val="2E7D5B"/>
                </a:solidFill>
                <a:latin typeface="Calibri"/>
              </a:rPr>
              <a:t>NOTE →  </a:t>
            </a:r>
            <a:r>
              <a:rPr sz="1260" b="1" i="0">
                <a:solidFill>
                  <a:srgbClr val="0E2C4B"/>
                </a:solidFill>
                <a:latin typeface="Calibri"/>
              </a:rPr>
              <a:t>§6.4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8" b="0" i="0">
                <a:solidFill>
                  <a:srgbClr val="6A6A6A"/>
                </a:solidFill>
                <a:latin typeface="Calibri"/>
              </a:rPr>
              <a:t>time effects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781171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0E2C4B"/>
                </a:solidFill>
                <a:latin typeface="Calibri"/>
              </a:rPr>
              <a:t>On time effects, consistency is the obligation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554480"/>
            <a:ext cx="1105783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889" b="0" i="0">
                <a:solidFill>
                  <a:srgbClr val="1A1A1A"/>
                </a:solidFill>
                <a:latin typeface="Calibri"/>
              </a:rPr>
              <a:t>P&amp;L arising from the passage of time belongs in APL, and must be treated </a:t>
            </a:r>
            <a:r>
              <a:rPr sz="1889" b="1" i="0">
                <a:solidFill>
                  <a:srgbClr val="C2453C"/>
                </a:solidFill>
                <a:latin typeface="Calibri"/>
              </a:rPr>
              <a:t>consistently</a:t>
            </a:r>
            <a:r>
              <a:rPr sz="1889" b="0" i="0">
                <a:solidFill>
                  <a:srgbClr val="1A1A1A"/>
                </a:solidFill>
                <a:latin typeface="Calibri"/>
              </a:rPr>
              <a:t> across APL, HPL and RTPL  (MAR32.27).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651760"/>
            <a:ext cx="352044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651760"/>
            <a:ext cx="3520440" cy="82296"/>
          </a:xfrm>
          <a:prstGeom prst="rect">
            <a:avLst/>
          </a:prstGeom>
          <a:solidFill>
            <a:srgbClr val="355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83464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23" b="1" i="0">
                <a:solidFill>
                  <a:srgbClr val="355574"/>
                </a:solidFill>
                <a:latin typeface="Calibri"/>
              </a:rPr>
              <a:t>THETA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273552"/>
            <a:ext cx="31546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60" b="0" i="0">
                <a:solidFill>
                  <a:srgbClr val="1A1A1A"/>
                </a:solidFill>
                <a:latin typeface="Calibri"/>
              </a:rPr>
              <a:t>The sensitivity of price to the passage of time — the first-order derivative of price with respect to time.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2651760"/>
            <a:ext cx="352044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2651760"/>
            <a:ext cx="3520440" cy="82296"/>
          </a:xfrm>
          <a:prstGeom prst="rect">
            <a:avLst/>
          </a:prstGeom>
          <a:solidFill>
            <a:srgbClr val="355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283464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23" b="1" i="0">
                <a:solidFill>
                  <a:srgbClr val="355574"/>
                </a:solidFill>
                <a:latin typeface="Calibri"/>
              </a:rPr>
              <a:t>CARRY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3273552"/>
            <a:ext cx="31546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60" b="0" i="0">
                <a:solidFill>
                  <a:srgbClr val="1A1A1A"/>
                </a:solidFill>
                <a:latin typeface="Calibri"/>
              </a:rPr>
              <a:t>The cost or benefit of holding the position across the day.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28432" y="2651760"/>
            <a:ext cx="352044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28432" y="2651760"/>
            <a:ext cx="3520440" cy="82296"/>
          </a:xfrm>
          <a:prstGeom prst="rect">
            <a:avLst/>
          </a:prstGeom>
          <a:solidFill>
            <a:srgbClr val="355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283464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23" b="1" i="0">
                <a:solidFill>
                  <a:srgbClr val="355574"/>
                </a:solidFill>
                <a:latin typeface="Calibri"/>
              </a:rPr>
              <a:t>FUNDING COSTS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2" y="3273552"/>
            <a:ext cx="31546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60" b="0" i="0">
                <a:solidFill>
                  <a:srgbClr val="1A1A1A"/>
                </a:solidFill>
                <a:latin typeface="Calibri"/>
              </a:rPr>
              <a:t>The cost of funding the position, named explicitly in the MAR32.27 footnote.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4709160"/>
            <a:ext cx="110578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701" b="1" i="0">
                <a:solidFill>
                  <a:srgbClr val="0E2C4B"/>
                </a:solidFill>
                <a:latin typeface="Calibri"/>
              </a:rPr>
              <a:t>Note what the rule is not.  </a:t>
            </a:r>
            <a:r>
              <a:rPr sz="1701" b="0" i="0">
                <a:solidFill>
                  <a:srgbClr val="1A1A1A"/>
                </a:solidFill>
                <a:latin typeface="Calibri"/>
              </a:rPr>
              <a:t>The standard does not prescribe a particular treatment. Inconsistent handling of theta and carry between the front-office and risk engines is a routine source of attribution noise, and it is avoidable.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5623560"/>
            <a:ext cx="11057839" cy="634959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5623560"/>
            <a:ext cx="82296" cy="634959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5623560"/>
            <a:ext cx="10600639" cy="6349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34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449" b="0" i="0">
                <a:solidFill>
                  <a:srgbClr val="1A1A1A"/>
                </a:solidFill>
                <a:latin typeface="Calibri"/>
              </a:rPr>
              <a:t>Pick a treatment, then apply the same one in all three measures. The rule polices agreement, not method.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6492240"/>
            <a:ext cx="6309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BCBS MAR32 / MAR33 / CAP30; companion note APL_vs_HPL_Backtesting_Note_v14.docx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728" y="6492240"/>
            <a:ext cx="41056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Note: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§6.4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0116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89" b="1" i="0">
                <a:solidFill>
                  <a:srgbClr val="C2453C"/>
                </a:solidFill>
                <a:latin typeface="Calibri"/>
              </a:rPr>
              <a:t>SESSION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468880"/>
            <a:ext cx="10607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200"/>
              </a:spcAft>
            </a:pPr>
            <a:r>
              <a:rPr sz="4284" b="1" i="0">
                <a:solidFill>
                  <a:srgbClr val="FFFFFF"/>
                </a:solidFill>
                <a:latin typeface="Calibri"/>
              </a:rPr>
              <a:t>When A Breach Happens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3687445"/>
            <a:ext cx="1554480" cy="31750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9319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512" b="1" i="0">
                <a:solidFill>
                  <a:srgbClr val="9DB4CC"/>
                </a:solidFill>
                <a:latin typeface="Calibri"/>
              </a:rPr>
              <a:t>In this session:  </a:t>
            </a:r>
            <a:r>
              <a:rPr sz="1512" b="0" i="0">
                <a:solidFill>
                  <a:srgbClr val="FFFFFF"/>
                </a:solidFill>
                <a:latin typeface="Calibri"/>
              </a:rPr>
              <a:t>How the threshold is built, how breaches are counted, what they cost.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23" b="1" i="0">
                <a:solidFill>
                  <a:srgbClr val="C2453C"/>
                </a:solidFill>
                <a:latin typeface="Calibri"/>
              </a:rPr>
              <a:t>SESSION 4 · WHEN A BREACH HAPPENS</a:t>
            </a:r>
          </a:p>
        </p:txBody>
      </p:sp>
      <p:sp>
        <p:nvSpPr>
          <p:cNvPr id="3" name="Rectangle 2"/>
          <p:cNvSpPr/>
          <p:nvPr/>
        </p:nvSpPr>
        <p:spPr>
          <a:xfrm>
            <a:off x="8607247" y="274320"/>
            <a:ext cx="3017520" cy="512064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07247" y="274320"/>
            <a:ext cx="64008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1839" y="274320"/>
            <a:ext cx="2743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71" b="1" i="0">
                <a:solidFill>
                  <a:srgbClr val="2E7D5B"/>
                </a:solidFill>
                <a:latin typeface="Calibri"/>
              </a:rPr>
              <a:t>NOTE →  </a:t>
            </a:r>
            <a:r>
              <a:rPr sz="1260" b="1" i="0">
                <a:solidFill>
                  <a:srgbClr val="0E2C4B"/>
                </a:solidFill>
                <a:latin typeface="Calibri"/>
              </a:rPr>
              <a:t>§7.1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8" b="0" i="0">
                <a:solidFill>
                  <a:srgbClr val="6A6A6A"/>
                </a:solidFill>
                <a:latin typeface="Calibri"/>
              </a:rPr>
              <a:t>MAR32.18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781171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0E2C4B"/>
                </a:solidFill>
                <a:latin typeface="Calibri"/>
              </a:rPr>
              <a:t>The backtesting VaR carries no time or vol weighting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qual_weigh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727" y="1536192"/>
            <a:ext cx="8778240" cy="289968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4700016"/>
            <a:ext cx="1105783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638" b="1" i="0">
                <a:solidFill>
                  <a:srgbClr val="0E2C4B"/>
                </a:solidFill>
                <a:latin typeface="Calibri"/>
              </a:rPr>
              <a:t>MAR32.18 fixes the calibration:  </a:t>
            </a:r>
            <a:r>
              <a:rPr sz="1638" b="0" i="0">
                <a:solidFill>
                  <a:srgbClr val="1A1A1A"/>
                </a:solidFill>
                <a:latin typeface="Calibri"/>
              </a:rPr>
              <a:t>“the most recent 12 months' data, </a:t>
            </a:r>
            <a:r>
              <a:rPr sz="1638" b="1" i="0">
                <a:solidFill>
                  <a:srgbClr val="C2453C"/>
                </a:solidFill>
                <a:latin typeface="Calibri"/>
              </a:rPr>
              <a:t>equally weighted</a:t>
            </a:r>
            <a:r>
              <a:rPr sz="1638" b="0" i="0">
                <a:solidFill>
                  <a:srgbClr val="1A1A1A"/>
                </a:solidFill>
                <a:latin typeface="Calibri"/>
              </a:rPr>
              <a:t>”.  Every observation carries 1/250 — yesterday and a year ago count the same. No EWMA, no decay factor, no volatility scaling.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623560"/>
            <a:ext cx="11057839" cy="634959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5623560"/>
            <a:ext cx="82296" cy="634959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5623560"/>
            <a:ext cx="10600639" cy="6349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34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449" b="0" i="0">
                <a:solidFill>
                  <a:srgbClr val="1A1A1A"/>
                </a:solidFill>
                <a:latin typeface="Calibri"/>
              </a:rPr>
              <a:t>The decay factor would otherwise be a free parameter a bank could tune to suppress its own exception count. Fixing it is what makes the count comparable.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6492240"/>
            <a:ext cx="6309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BCBS MAR32 / MAR33 / CAP30; companion note APL_vs_HPL_Backtesting_Note_v14.docx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67728" y="6492240"/>
            <a:ext cx="41056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Note: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§7.1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23" b="1" i="0">
                <a:solidFill>
                  <a:srgbClr val="C2453C"/>
                </a:solidFill>
                <a:latin typeface="Calibri"/>
              </a:rPr>
              <a:t>SESSION 4 · WHEN A BREACH HAPPENS</a:t>
            </a:r>
          </a:p>
        </p:txBody>
      </p:sp>
      <p:sp>
        <p:nvSpPr>
          <p:cNvPr id="3" name="Rectangle 2"/>
          <p:cNvSpPr/>
          <p:nvPr/>
        </p:nvSpPr>
        <p:spPr>
          <a:xfrm>
            <a:off x="8607247" y="274320"/>
            <a:ext cx="3017520" cy="512064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07247" y="274320"/>
            <a:ext cx="64008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1839" y="274320"/>
            <a:ext cx="2743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71" b="1" i="0">
                <a:solidFill>
                  <a:srgbClr val="2E7D5B"/>
                </a:solidFill>
                <a:latin typeface="Calibri"/>
              </a:rPr>
              <a:t>NOTE →  </a:t>
            </a:r>
            <a:r>
              <a:rPr sz="1260" b="1" i="0">
                <a:solidFill>
                  <a:srgbClr val="0E2C4B"/>
                </a:solidFill>
                <a:latin typeface="Calibri"/>
              </a:rPr>
              <a:t>§7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8" b="0" i="0">
                <a:solidFill>
                  <a:srgbClr val="6A6A6A"/>
                </a:solidFill>
                <a:latin typeface="Calibri"/>
              </a:rPr>
              <a:t>the counting rule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781171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0E2C4B"/>
                </a:solidFill>
                <a:latin typeface="Calibri"/>
              </a:rPr>
              <a:t>The greater of the two counts governs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ax_r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727" y="1572768"/>
            <a:ext cx="8778240" cy="345809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66928" y="5623560"/>
            <a:ext cx="11057839" cy="634959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5623560"/>
            <a:ext cx="82296" cy="634959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5623560"/>
            <a:ext cx="10600639" cy="6349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34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449" b="0" i="0">
                <a:solidFill>
                  <a:srgbClr val="1A1A1A"/>
                </a:solidFill>
                <a:latin typeface="Calibri"/>
              </a:rPr>
              <a:t>Exceptions are tallied separately for APL and HPL, and the larger tally is the one that counts — MAR32.5(1) bank-wide, MAR32.18(1) at desk level.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6309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BCBS MAR32 / MAR33 / CAP30; companion note APL_vs_HPL_Backtesting_Note_v14.docx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31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6492240"/>
            <a:ext cx="41056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Note: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§7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23" b="1" i="0">
                <a:solidFill>
                  <a:srgbClr val="C2453C"/>
                </a:solidFill>
                <a:latin typeface="Calibri"/>
              </a:rPr>
              <a:t>SESSION 4 · WHEN A BREACH HAPPENS</a:t>
            </a:r>
          </a:p>
        </p:txBody>
      </p:sp>
      <p:sp>
        <p:nvSpPr>
          <p:cNvPr id="3" name="Rectangle 2"/>
          <p:cNvSpPr/>
          <p:nvPr/>
        </p:nvSpPr>
        <p:spPr>
          <a:xfrm>
            <a:off x="8607247" y="274320"/>
            <a:ext cx="3017520" cy="512064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07247" y="274320"/>
            <a:ext cx="64008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1839" y="274320"/>
            <a:ext cx="2743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71" b="1" i="0">
                <a:solidFill>
                  <a:srgbClr val="2E7D5B"/>
                </a:solidFill>
                <a:latin typeface="Calibri"/>
              </a:rPr>
              <a:t>NOTE →  </a:t>
            </a:r>
            <a:r>
              <a:rPr sz="1260" b="1" i="0">
                <a:solidFill>
                  <a:srgbClr val="0E2C4B"/>
                </a:solidFill>
                <a:latin typeface="Calibri"/>
              </a:rPr>
              <a:t>§7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8" b="0" i="0">
                <a:solidFill>
                  <a:srgbClr val="6A6A6A"/>
                </a:solidFill>
                <a:latin typeface="Calibri"/>
              </a:rPr>
              <a:t>diagnosis vs consequence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781171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0E2C4B"/>
                </a:solidFill>
                <a:latin typeface="Calibri"/>
              </a:rPr>
              <a:t>Diagnosis differs. The consequence does not.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554480"/>
            <a:ext cx="539496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554480"/>
            <a:ext cx="5394960" cy="82296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7373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23" b="1" i="0">
                <a:solidFill>
                  <a:srgbClr val="2E7D5B"/>
                </a:solidFill>
                <a:latin typeface="Calibri"/>
              </a:rPr>
              <a:t>DIAGNOSIS  —  USEFUL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176272"/>
            <a:ext cx="50292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60" b="0" i="0">
                <a:solidFill>
                  <a:srgbClr val="1A1A1A"/>
                </a:solidFill>
                <a:latin typeface="Calibri"/>
              </a:rPr>
              <a:t>An APL-only breach points at the trading day: intraday positioning, execution, transaction costs. An HPL-only breach points at the model: volatility, correlations, pricing. This reasoning belongs in the explanation MAR32.12 requires for every exception.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6208" y="1554480"/>
            <a:ext cx="539496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1554480"/>
            <a:ext cx="5394960" cy="82296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17373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23" b="1" i="0">
                <a:solidFill>
                  <a:srgbClr val="C2453C"/>
                </a:solidFill>
                <a:latin typeface="Calibri"/>
              </a:rPr>
              <a:t>CONSEQUENCE  —  INDIFFERENT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176272"/>
            <a:ext cx="50292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60" b="0" i="0">
                <a:solidFill>
                  <a:srgbClr val="1A1A1A"/>
                </a:solidFill>
                <a:latin typeface="Calibri"/>
              </a:rPr>
              <a:t>The capital outcome follows the greater of the two counts, whichever measure produced it. MAR33.42(4) sets the backtesting add-on on that same maximum. A desk comfortably inside the limit on APL and outside it on HPL has failed.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343400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764" b="1" i="0">
                <a:solidFill>
                  <a:srgbClr val="C2453C"/>
                </a:solidFill>
                <a:latin typeface="Calibri"/>
              </a:rPr>
              <a:t>The common error:  </a:t>
            </a:r>
            <a:r>
              <a:rPr sz="1764" b="0" i="0">
                <a:solidFill>
                  <a:srgbClr val="1A1A1A"/>
                </a:solidFill>
                <a:latin typeface="Calibri"/>
              </a:rPr>
              <a:t>reading “APL breached, HPL did not” as though it changed the penalty. It does not. Which measure breached tells you </a:t>
            </a:r>
            <a:r>
              <a:rPr sz="1764" b="1" i="0">
                <a:solidFill>
                  <a:srgbClr val="0E2C4B"/>
                </a:solidFill>
                <a:latin typeface="Calibri"/>
              </a:rPr>
              <a:t>where to investigate</a:t>
            </a:r>
            <a:r>
              <a:rPr sz="1764" b="0" i="0">
                <a:solidFill>
                  <a:srgbClr val="1A1A1A"/>
                </a:solidFill>
                <a:latin typeface="Calibri"/>
              </a:rPr>
              <a:t> — never what you will pay.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5623560"/>
            <a:ext cx="11057839" cy="634959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5623560"/>
            <a:ext cx="82296" cy="634959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5623560"/>
            <a:ext cx="10600639" cy="6349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34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449" b="0" i="0">
                <a:solidFill>
                  <a:srgbClr val="1A1A1A"/>
                </a:solidFill>
                <a:latin typeface="Calibri"/>
              </a:rPr>
              <a:t>Use which-measure-breached to investigate. Never to predict the capital outcome.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6492240"/>
            <a:ext cx="6309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BCBS MAR32 / MAR33 / CAP30; companion note APL_vs_HPL_Backtesting_Note_v14.docx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32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67728" y="6492240"/>
            <a:ext cx="41056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Note: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§7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23" b="1" i="0">
                <a:solidFill>
                  <a:srgbClr val="C2453C"/>
                </a:solidFill>
                <a:latin typeface="Calibri"/>
              </a:rPr>
              <a:t>SESSION 4 · WHEN A BREACH HAPPENS</a:t>
            </a:r>
          </a:p>
        </p:txBody>
      </p:sp>
      <p:sp>
        <p:nvSpPr>
          <p:cNvPr id="3" name="Rectangle 2"/>
          <p:cNvSpPr/>
          <p:nvPr/>
        </p:nvSpPr>
        <p:spPr>
          <a:xfrm>
            <a:off x="8607247" y="274320"/>
            <a:ext cx="3017520" cy="512064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07247" y="274320"/>
            <a:ext cx="64008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1839" y="274320"/>
            <a:ext cx="2743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71" b="1" i="0">
                <a:solidFill>
                  <a:srgbClr val="2E7D5B"/>
                </a:solidFill>
                <a:latin typeface="Calibri"/>
              </a:rPr>
              <a:t>NOTE →  </a:t>
            </a:r>
            <a:r>
              <a:rPr sz="1260" b="1" i="0">
                <a:solidFill>
                  <a:srgbClr val="0E2C4B"/>
                </a:solidFill>
                <a:latin typeface="Calibri"/>
              </a:rPr>
              <a:t>§7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8" b="0" i="0">
                <a:solidFill>
                  <a:srgbClr val="6A6A6A"/>
                </a:solidFill>
                <a:latin typeface="Calibri"/>
              </a:rPr>
              <a:t>desk thresholds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781171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0E2C4B"/>
                </a:solidFill>
                <a:latin typeface="Calibri"/>
              </a:rPr>
              <a:t>12 at the 99th, 30 at the 97.5th — then standardised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49808" y="1691640"/>
          <a:ext cx="10698480" cy="20749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63040"/>
                <a:gridCol w="2011680"/>
                <a:gridCol w="2194560"/>
                <a:gridCol w="5029200"/>
              </a:tblGrid>
              <a:tr h="691652">
                <a:tc>
                  <a:txBody>
                    <a:bodyPr wrap="square"/>
                    <a:lstStyle/>
                    <a:p>
                      <a:pPr algn="l"/>
                      <a:r>
                        <a:rPr sz="1260" b="1">
                          <a:solidFill>
                            <a:srgbClr val="FFFFFF"/>
                          </a:solidFill>
                          <a:latin typeface="Calibri"/>
                        </a:rPr>
                        <a:t>Level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60" b="1">
                          <a:solidFill>
                            <a:srgbClr val="FFFFFF"/>
                          </a:solidFill>
                          <a:latin typeface="Calibri"/>
                        </a:rPr>
                        <a:t>VaR percentile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60" b="1">
                          <a:solidFill>
                            <a:srgbClr val="FFFFFF"/>
                          </a:solidFill>
                          <a:latin typeface="Calibri"/>
                        </a:rPr>
                        <a:t>Governing count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60" b="1">
                          <a:solidFill>
                            <a:srgbClr val="FFFFFF"/>
                          </a:solidFill>
                          <a:latin typeface="Calibri"/>
                        </a:rPr>
                        <a:t>Consequence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</a:tr>
              <a:tr h="691652">
                <a:tc>
                  <a:txBody>
                    <a:bodyPr wrap="square"/>
                    <a:lstStyle/>
                    <a:p>
                      <a:pPr algn="l"/>
                      <a:r>
                        <a:rPr sz="1320" b="1">
                          <a:solidFill>
                            <a:srgbClr val="1A1A1A"/>
                          </a:solidFill>
                          <a:latin typeface="Calibri"/>
                        </a:rPr>
                        <a:t>Bank-wide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20" b="0">
                          <a:solidFill>
                            <a:srgbClr val="1A1A1A"/>
                          </a:solidFill>
                          <a:latin typeface="Calibri"/>
                        </a:rPr>
                        <a:t>99th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20" b="0">
                          <a:solidFill>
                            <a:srgbClr val="1A1A1A"/>
                          </a:solidFill>
                          <a:latin typeface="Calibri"/>
                        </a:rPr>
                        <a:t>greater of APL / HPL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20" b="0">
                          <a:solidFill>
                            <a:srgbClr val="1A1A1A"/>
                          </a:solidFill>
                          <a:latin typeface="Calibri"/>
                        </a:rPr>
                        <a:t>backtesting zones set the multiplier — green 1.50, amber 1.70 to 1.92, red 2.00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691652">
                <a:tc>
                  <a:txBody>
                    <a:bodyPr wrap="square"/>
                    <a:lstStyle/>
                    <a:p>
                      <a:pPr algn="l"/>
                      <a:r>
                        <a:rPr sz="1320" b="1">
                          <a:solidFill>
                            <a:srgbClr val="1A1A1A"/>
                          </a:solidFill>
                          <a:latin typeface="Calibri"/>
                        </a:rPr>
                        <a:t>Trading desk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20" b="1">
                          <a:solidFill>
                            <a:srgbClr val="C2453C"/>
                          </a:solidFill>
                          <a:latin typeface="Calibri"/>
                        </a:rPr>
                        <a:t>97.5th and 99th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20" b="0">
                          <a:solidFill>
                            <a:srgbClr val="1A1A1A"/>
                          </a:solidFill>
                          <a:latin typeface="Calibri"/>
                        </a:rPr>
                        <a:t>greater of APL / HPL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20" b="1">
                          <a:solidFill>
                            <a:srgbClr val="C2453C"/>
                          </a:solidFill>
                          <a:latin typeface="Calibri"/>
                        </a:rPr>
                        <a:t>more than 12 at the 99th, or 30 at the 97.5th, in the most recent 12 months: every position in the desk is capitalised under the standardised approach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3973068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3895344"/>
            <a:ext cx="108200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575" b="1" i="0">
                <a:solidFill>
                  <a:srgbClr val="0E2C4B"/>
                </a:solidFill>
                <a:latin typeface="Calibri"/>
              </a:rPr>
              <a:t>Desk backtesting runs at two percentiles.  </a:t>
            </a:r>
            <a:r>
              <a:rPr sz="1575" b="0" i="0">
                <a:solidFill>
                  <a:srgbClr val="1A1A1A"/>
                </a:solidFill>
                <a:latin typeface="Calibri"/>
              </a:rPr>
              <a:t>not one — MAR32.18. A programme built only around the 99th is incomplete.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4658868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4581144"/>
            <a:ext cx="108200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575" b="1" i="0">
                <a:solidFill>
                  <a:srgbClr val="0E2C4B"/>
                </a:solidFill>
                <a:latin typeface="Calibri"/>
              </a:rPr>
              <a:t>Missing data counts against you.  </a:t>
            </a:r>
            <a:r>
              <a:rPr sz="1575" b="0" i="0">
                <a:solidFill>
                  <a:srgbClr val="1A1A1A"/>
                </a:solidFill>
                <a:latin typeface="Calibri"/>
              </a:rPr>
              <a:t>where either the P&amp;L or the risk measure is unavailable or impossible to compute, that day counts as an outlier.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5623560"/>
            <a:ext cx="11057839" cy="634959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5623560"/>
            <a:ext cx="82296" cy="634959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5623560"/>
            <a:ext cx="10600639" cy="6349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34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449" b="0" i="0">
                <a:solidFill>
                  <a:srgbClr val="1A1A1A"/>
                </a:solidFill>
                <a:latin typeface="Calibri"/>
              </a:rPr>
              <a:t>Desk-level failure is not a multiplier adjustment. It removes the desk from the internal models approach altogether.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6492240"/>
            <a:ext cx="6309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BCBS MAR32 / MAR33 / CAP30; companion note APL_vs_HPL_Backtesting_Note_v14.docx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33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67728" y="6492240"/>
            <a:ext cx="41056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Note: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§7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23" b="1" i="0">
                <a:solidFill>
                  <a:srgbClr val="C2453C"/>
                </a:solidFill>
                <a:latin typeface="Calibri"/>
              </a:rPr>
              <a:t>SESSION 4 · WHEN A BREACH HAPPENS</a:t>
            </a:r>
          </a:p>
        </p:txBody>
      </p:sp>
      <p:sp>
        <p:nvSpPr>
          <p:cNvPr id="3" name="Rectangle 2"/>
          <p:cNvSpPr/>
          <p:nvPr/>
        </p:nvSpPr>
        <p:spPr>
          <a:xfrm>
            <a:off x="8607247" y="274320"/>
            <a:ext cx="3017520" cy="512064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07247" y="274320"/>
            <a:ext cx="64008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1839" y="274320"/>
            <a:ext cx="2743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71" b="1" i="0">
                <a:solidFill>
                  <a:srgbClr val="2E7D5B"/>
                </a:solidFill>
                <a:latin typeface="Calibri"/>
              </a:rPr>
              <a:t>NOTE →  </a:t>
            </a:r>
            <a:r>
              <a:rPr sz="1260" b="1" i="0">
                <a:solidFill>
                  <a:srgbClr val="0E2C4B"/>
                </a:solidFill>
                <a:latin typeface="Calibri"/>
              </a:rPr>
              <a:t>§7.2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8" b="0" i="0">
                <a:solidFill>
                  <a:srgbClr val="6A6A6A"/>
                </a:solidFill>
                <a:latin typeface="Calibri"/>
              </a:rPr>
              <a:t>bank vs desk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781171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0E2C4B"/>
                </a:solidFill>
                <a:latin typeface="Calibri"/>
              </a:rPr>
              <a:t>Desk exceptions do not add up to bank exceptions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ank_vs_de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247" y="1536192"/>
            <a:ext cx="9601200" cy="356214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66928" y="5623560"/>
            <a:ext cx="11057839" cy="634959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5623560"/>
            <a:ext cx="82296" cy="634959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5623560"/>
            <a:ext cx="10600639" cy="6349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34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449" b="0" i="0">
                <a:solidFill>
                  <a:srgbClr val="1A1A1A"/>
                </a:solidFill>
                <a:latin typeface="Calibri"/>
              </a:rPr>
              <a:t>A separate test on a separate aggregate: total trading-book P&amp;L against total trading-book VaR (MAR32.5(1)). Desk results are never summed, and scope is re-cut quarterly (MAR32.7).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6309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BCBS MAR32 / MAR33 / CAP30; companion note APL_vs_HPL_Backtesting_Note_v14.docx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34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6492240"/>
            <a:ext cx="41056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Note: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§7.2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23" b="1" i="0">
                <a:solidFill>
                  <a:srgbClr val="C2453C"/>
                </a:solidFill>
                <a:latin typeface="Calibri"/>
              </a:rPr>
              <a:t>SESSION 4 · WHEN A BREACH HAPPENS</a:t>
            </a:r>
          </a:p>
        </p:txBody>
      </p:sp>
      <p:sp>
        <p:nvSpPr>
          <p:cNvPr id="3" name="Rectangle 2"/>
          <p:cNvSpPr/>
          <p:nvPr/>
        </p:nvSpPr>
        <p:spPr>
          <a:xfrm>
            <a:off x="8607247" y="274320"/>
            <a:ext cx="3017520" cy="512064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07247" y="274320"/>
            <a:ext cx="64008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1839" y="274320"/>
            <a:ext cx="2743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71" b="1" i="0">
                <a:solidFill>
                  <a:srgbClr val="2E7D5B"/>
                </a:solidFill>
                <a:latin typeface="Calibri"/>
              </a:rPr>
              <a:t>NOTE →  </a:t>
            </a:r>
            <a:r>
              <a:rPr sz="1260" b="1" i="0">
                <a:solidFill>
                  <a:srgbClr val="0E2C4B"/>
                </a:solidFill>
                <a:latin typeface="Calibri"/>
              </a:rPr>
              <a:t>§7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8" b="0" i="0">
                <a:solidFill>
                  <a:srgbClr val="6A6A6A"/>
                </a:solidFill>
                <a:latin typeface="Calibri"/>
              </a:rPr>
              <a:t>bank-wide zones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781171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0E2C4B"/>
                </a:solidFill>
                <a:latin typeface="Calibri"/>
              </a:rPr>
              <a:t>Bank-wide, the exception count sets the multiplier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z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007" y="1627632"/>
            <a:ext cx="8869680" cy="357899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66928" y="5623560"/>
            <a:ext cx="11057839" cy="634959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5623560"/>
            <a:ext cx="82296" cy="634959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5623560"/>
            <a:ext cx="10600639" cy="6349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34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449" b="0" i="0">
                <a:solidFill>
                  <a:srgbClr val="1A1A1A"/>
                </a:solidFill>
                <a:latin typeface="Calibri"/>
              </a:rPr>
              <a:t>MAR32.8–32.9 Table 1, on a sample of 250 observations. The amber zone is graduated; the red zone is not.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6309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BCBS MAR32 / MAR33 / CAP30; companion note APL_vs_HPL_Backtesting_Note_v14.docx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35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6492240"/>
            <a:ext cx="41056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Note: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§7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23" b="1" i="0">
                <a:solidFill>
                  <a:srgbClr val="C2453C"/>
                </a:solidFill>
                <a:latin typeface="Calibri"/>
              </a:rPr>
              <a:t>SESSION 4 · WHEN A BREACH HAPPENS</a:t>
            </a:r>
          </a:p>
        </p:txBody>
      </p:sp>
      <p:sp>
        <p:nvSpPr>
          <p:cNvPr id="3" name="Rectangle 2"/>
          <p:cNvSpPr/>
          <p:nvPr/>
        </p:nvSpPr>
        <p:spPr>
          <a:xfrm>
            <a:off x="8607247" y="274320"/>
            <a:ext cx="3017520" cy="512064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07247" y="274320"/>
            <a:ext cx="64008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1839" y="274320"/>
            <a:ext cx="2743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71" b="1" i="0">
                <a:solidFill>
                  <a:srgbClr val="2E7D5B"/>
                </a:solidFill>
                <a:latin typeface="Calibri"/>
              </a:rPr>
              <a:t>NOTE →  </a:t>
            </a:r>
            <a:r>
              <a:rPr sz="1260" b="1" i="0">
                <a:solidFill>
                  <a:srgbClr val="0E2C4B"/>
                </a:solidFill>
                <a:latin typeface="Calibri"/>
              </a:rPr>
              <a:t>§7.2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8" b="0" i="0">
                <a:solidFill>
                  <a:srgbClr val="6A6A6A"/>
                </a:solidFill>
                <a:latin typeface="Calibri"/>
              </a:rPr>
              <a:t>why relief exists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781171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0E2C4B"/>
                </a:solidFill>
                <a:latin typeface="Calibri"/>
              </a:rPr>
              <a:t>Inclusion is not calibration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554480"/>
            <a:ext cx="539496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554480"/>
            <a:ext cx="5394960" cy="82296"/>
          </a:xfrm>
          <a:prstGeom prst="rect">
            <a:avLst/>
          </a:prstGeom>
          <a:solidFill>
            <a:srgbClr val="3555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7373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23" b="1" i="0">
                <a:solidFill>
                  <a:srgbClr val="355574"/>
                </a:solidFill>
                <a:latin typeface="Calibri"/>
              </a:rPr>
              <a:t>THE APPARENT CONTRADICTION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176272"/>
            <a:ext cx="5029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60" b="0" i="0">
                <a:solidFill>
                  <a:srgbClr val="1A1A1A"/>
                </a:solidFill>
                <a:latin typeface="Calibri"/>
              </a:rPr>
              <a:t>If non-modellable risk factors sit inside the backtested model, why does MAR32.6 offer relief for exceptions they drive? Surely the model should have seen the move coming.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6208" y="1554480"/>
            <a:ext cx="539496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1554480"/>
            <a:ext cx="5394960" cy="82296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17373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23" b="1" i="0">
                <a:solidFill>
                  <a:srgbClr val="2E7D5B"/>
                </a:solidFill>
                <a:latin typeface="Calibri"/>
              </a:rPr>
              <a:t>THE RESOLUTION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176272"/>
            <a:ext cx="5029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60" b="0" i="0">
                <a:solidFill>
                  <a:srgbClr val="1A1A1A"/>
                </a:solidFill>
                <a:latin typeface="Calibri"/>
              </a:rPr>
              <a:t>A factor is non-modellable precisely because real price observations are sparse. The twelve months of equally weighted data MAR32.18 requires is thin, proxied or stale for it. The factor is in the model; its forecast is weak.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434840"/>
            <a:ext cx="11057839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701" b="0" i="0">
                <a:solidFill>
                  <a:srgbClr val="1A1A1A"/>
                </a:solidFill>
                <a:latin typeface="Calibri"/>
              </a:rPr>
              <a:t>So a genuine large move can breach VaR anyway — while the stress scenario is already capitalising that same factor far above the level VaR implies. </a:t>
            </a:r>
            <a:r>
              <a:rPr sz="1701" b="1" i="0">
                <a:solidFill>
                  <a:srgbClr val="0E2C4B"/>
                </a:solidFill>
                <a:latin typeface="Calibri"/>
              </a:rPr>
              <a:t>MAR32.6 is relief from paying twice, not a patch for absent risk factors.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5623560"/>
            <a:ext cx="11057839" cy="634959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5623560"/>
            <a:ext cx="82296" cy="634959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5623560"/>
            <a:ext cx="10600639" cy="6349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34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449" b="0" i="0">
                <a:solidFill>
                  <a:srgbClr val="1A1A1A"/>
                </a:solidFill>
                <a:latin typeface="Calibri"/>
              </a:rPr>
              <a:t>Capital is already held for the factor through SES. Where that capital exceeds the loss, the exception need not also count against the desk.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6492240"/>
            <a:ext cx="6309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BCBS MAR32 / MAR33 / CAP30; companion note APL_vs_HPL_Backtesting_Note_v14.docx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36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67728" y="6492240"/>
            <a:ext cx="41056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Note: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§7.2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23" b="1" i="0">
                <a:solidFill>
                  <a:srgbClr val="C2453C"/>
                </a:solidFill>
                <a:latin typeface="Calibri"/>
              </a:rPr>
              <a:t>SESSION 4 · WHEN A BREACH HAPPENS</a:t>
            </a:r>
          </a:p>
        </p:txBody>
      </p:sp>
      <p:sp>
        <p:nvSpPr>
          <p:cNvPr id="3" name="Rectangle 2"/>
          <p:cNvSpPr/>
          <p:nvPr/>
        </p:nvSpPr>
        <p:spPr>
          <a:xfrm>
            <a:off x="8607247" y="274320"/>
            <a:ext cx="3017520" cy="512064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07247" y="274320"/>
            <a:ext cx="64008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1839" y="274320"/>
            <a:ext cx="2743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71" b="1" i="0">
                <a:solidFill>
                  <a:srgbClr val="2E7D5B"/>
                </a:solidFill>
                <a:latin typeface="Calibri"/>
              </a:rPr>
              <a:t>NOTE →  </a:t>
            </a:r>
            <a:r>
              <a:rPr sz="1260" b="1" i="0">
                <a:solidFill>
                  <a:srgbClr val="0E2C4B"/>
                </a:solidFill>
                <a:latin typeface="Calibri"/>
              </a:rPr>
              <a:t>MAR32.6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8" b="0" i="0">
                <a:solidFill>
                  <a:srgbClr val="6A6A6A"/>
                </a:solidFill>
                <a:latin typeface="Calibri"/>
              </a:rPr>
              <a:t>companion note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781171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0E2C4B"/>
                </a:solidFill>
                <a:latin typeface="Calibri"/>
              </a:rPr>
              <a:t>The SES must beat the full loss, never the excess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554480"/>
            <a:ext cx="26060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554480"/>
            <a:ext cx="2606040" cy="64008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719072"/>
            <a:ext cx="231343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76" b="1" i="0">
                <a:solidFill>
                  <a:srgbClr val="C2453C"/>
                </a:solidFill>
                <a:latin typeface="Calibri"/>
              </a:rPr>
              <a:t>1.50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194560"/>
            <a:ext cx="231343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197" b="1" i="0">
                <a:solidFill>
                  <a:srgbClr val="1A1A1A"/>
                </a:solidFill>
                <a:latin typeface="Calibri"/>
              </a:rPr>
              <a:t>loss for the 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514600"/>
            <a:ext cx="2313432" cy="23774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8" b="0" i="0">
                <a:solidFill>
                  <a:srgbClr val="6A6A6A"/>
                </a:solidFill>
                <a:latin typeface="Calibri"/>
              </a:rPr>
              <a:t>the benchmark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64992" y="1554480"/>
            <a:ext cx="26060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64992" y="1554480"/>
            <a:ext cx="2606040" cy="64008"/>
          </a:xfrm>
          <a:prstGeom prst="rect">
            <a:avLst/>
          </a:prstGeom>
          <a:solidFill>
            <a:srgbClr val="5B7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11296" y="1719072"/>
            <a:ext cx="231343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76" b="1" i="0">
                <a:solidFill>
                  <a:srgbClr val="5B7B99"/>
                </a:solidFill>
                <a:latin typeface="Calibri"/>
              </a:rPr>
              <a:t>1.00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11296" y="2194560"/>
            <a:ext cx="231343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197" b="1" i="0">
                <a:solidFill>
                  <a:srgbClr val="1A1A1A"/>
                </a:solidFill>
                <a:latin typeface="Calibri"/>
              </a:rPr>
              <a:t>VaR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11296" y="2514600"/>
            <a:ext cx="2313432" cy="23774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8" b="0" i="0">
                <a:solidFill>
                  <a:srgbClr val="6A6A6A"/>
                </a:solidFill>
                <a:latin typeface="Calibri"/>
              </a:rPr>
              <a:t>excess over it is 0.50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63056" y="1554480"/>
            <a:ext cx="26060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63056" y="1554480"/>
            <a:ext cx="2606040" cy="64008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719072"/>
            <a:ext cx="231343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76" b="1" i="0">
                <a:solidFill>
                  <a:srgbClr val="0E2C4B"/>
                </a:solidFill>
                <a:latin typeface="Calibri"/>
              </a:rPr>
              <a:t>0.80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194560"/>
            <a:ext cx="231343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197" b="1" i="0">
                <a:solidFill>
                  <a:srgbClr val="1A1A1A"/>
                </a:solidFill>
                <a:latin typeface="Calibri"/>
              </a:rPr>
              <a:t>desk-level 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514600"/>
            <a:ext cx="2313432" cy="23774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8" b="0" i="0">
                <a:solidFill>
                  <a:srgbClr val="6A6A6A"/>
                </a:solidFill>
                <a:latin typeface="Calibri"/>
              </a:rPr>
              <a:t>clears 0.50, not 1.50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1120" y="1554480"/>
            <a:ext cx="26060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61120" y="1554480"/>
            <a:ext cx="2606040" cy="64008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07424" y="1719072"/>
            <a:ext cx="231343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76" b="1" i="0">
                <a:solidFill>
                  <a:srgbClr val="C2453C"/>
                </a:solidFill>
                <a:latin typeface="Calibri"/>
              </a:rPr>
              <a:t>stands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07424" y="2194560"/>
            <a:ext cx="231343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197" b="1" i="0">
                <a:solidFill>
                  <a:srgbClr val="1A1A1A"/>
                </a:solidFill>
                <a:latin typeface="Calibri"/>
              </a:rPr>
              <a:t>the exception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07424" y="2514600"/>
            <a:ext cx="2313432" cy="237744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8" b="0" i="0">
                <a:solidFill>
                  <a:srgbClr val="6A6A6A"/>
                </a:solidFill>
                <a:latin typeface="Calibri"/>
              </a:rPr>
              <a:t>SES must beat the loss itself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3104388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" y="3026664"/>
            <a:ext cx="108200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512" b="1" i="0">
                <a:solidFill>
                  <a:srgbClr val="0E2C4B"/>
                </a:solidFill>
                <a:latin typeface="Calibri"/>
              </a:rPr>
              <a:t>The comparison is against the loss itself.  </a:t>
            </a:r>
            <a:r>
              <a:rPr sz="1512" b="0" i="0">
                <a:solidFill>
                  <a:srgbClr val="1A1A1A"/>
                </a:solidFill>
                <a:latin typeface="Calibri"/>
              </a:rPr>
              <a:t>MAR32.6 FAQ1 requires an SES in excess of the maximum of the APL loss or the HPL loss for that day — not the amount by which the loss exceeded VaR.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671316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3593592"/>
            <a:ext cx="108200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512" b="1" i="0">
                <a:solidFill>
                  <a:srgbClr val="0E2C4B"/>
                </a:solidFill>
                <a:latin typeface="Calibri"/>
              </a:rPr>
              <a:t>Judged standalone.  </a:t>
            </a:r>
            <a:r>
              <a:rPr sz="1512" b="0" i="0">
                <a:solidFill>
                  <a:srgbClr val="1A1A1A"/>
                </a:solidFill>
                <a:latin typeface="Calibri"/>
              </a:rPr>
              <a:t>the SES is assessed without adding VaR to it.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238244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2" y="4160520"/>
            <a:ext cx="108200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512" b="1" i="0">
                <a:solidFill>
                  <a:srgbClr val="0E2C4B"/>
                </a:solidFill>
                <a:latin typeface="Calibri"/>
              </a:rPr>
              <a:t>Desk-attributable.  </a:t>
            </a:r>
            <a:r>
              <a:rPr sz="1512" b="0" i="0">
                <a:solidFill>
                  <a:srgbClr val="1A1A1A"/>
                </a:solidFill>
                <a:latin typeface="Calibri"/>
              </a:rPr>
              <a:t>for desk-level backtesting the bank must be able to calculate the NMRF capital requirement for the specific desk, and not only for the risk factor across all desks.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4805172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2" y="4727448"/>
            <a:ext cx="108200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512" b="1" i="0">
                <a:solidFill>
                  <a:srgbClr val="0E2C4B"/>
                </a:solidFill>
                <a:latin typeface="Calibri"/>
              </a:rPr>
              <a:t>Causation must be evidenced.  </a:t>
            </a:r>
            <a:r>
              <a:rPr sz="1512" b="0" i="0">
                <a:solidFill>
                  <a:srgbClr val="1A1A1A"/>
                </a:solidFill>
                <a:latin typeface="Calibri"/>
              </a:rPr>
              <a:t>with the NMRF's value history documented and the supervisor notified and not objecting.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5623560"/>
            <a:ext cx="11057839" cy="634959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6928" y="5623560"/>
            <a:ext cx="82296" cy="634959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4672" y="5623560"/>
            <a:ext cx="10600639" cy="6349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34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449" b="0" i="0">
                <a:solidFill>
                  <a:srgbClr val="1A1A1A"/>
                </a:solidFill>
                <a:latin typeface="Calibri"/>
              </a:rPr>
              <a:t>EUR 0.80m clears the 0.50m excess and fails the 1.50m loss. Testing against the excess is the error the FAQ was written to close.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6928" y="6492240"/>
            <a:ext cx="6309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BCBS MAR32 / MAR33 / CAP30; companion note APL_vs_HPL_Backtesting_Note_v14.docx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37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67728" y="6492240"/>
            <a:ext cx="41056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Note: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MAR32.6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0116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89" b="1" i="0">
                <a:solidFill>
                  <a:srgbClr val="C2453C"/>
                </a:solidFill>
                <a:latin typeface="Calibri"/>
              </a:rPr>
              <a:t>SESSION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468880"/>
            <a:ext cx="10607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200"/>
              </a:spcAft>
            </a:pPr>
            <a:r>
              <a:rPr sz="4284" b="1" i="0">
                <a:solidFill>
                  <a:srgbClr val="FFFFFF"/>
                </a:solidFill>
                <a:latin typeface="Calibri"/>
              </a:rPr>
              <a:t>Getting It Right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3687445"/>
            <a:ext cx="1554480" cy="31750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931920"/>
            <a:ext cx="10241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512" b="1" i="0">
                <a:solidFill>
                  <a:srgbClr val="9DB4CC"/>
                </a:solidFill>
                <a:latin typeface="Calibri"/>
              </a:rPr>
              <a:t>In this session:  </a:t>
            </a:r>
            <a:r>
              <a:rPr sz="1512" b="0" i="0">
                <a:solidFill>
                  <a:srgbClr val="FFFFFF"/>
                </a:solidFill>
                <a:latin typeface="Calibri"/>
              </a:rPr>
              <a:t>What to do about it, and the beliefs that cost money.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23" b="1" i="0">
                <a:solidFill>
                  <a:srgbClr val="C2453C"/>
                </a:solidFill>
                <a:latin typeface="Calibri"/>
              </a:rPr>
              <a:t>SESSION 5 · GETTING IT RIGHT</a:t>
            </a:r>
          </a:p>
        </p:txBody>
      </p:sp>
      <p:sp>
        <p:nvSpPr>
          <p:cNvPr id="3" name="Rectangle 2"/>
          <p:cNvSpPr/>
          <p:nvPr/>
        </p:nvSpPr>
        <p:spPr>
          <a:xfrm>
            <a:off x="8607247" y="274320"/>
            <a:ext cx="3017520" cy="512064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07247" y="274320"/>
            <a:ext cx="64008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1839" y="274320"/>
            <a:ext cx="2743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71" b="1" i="0">
                <a:solidFill>
                  <a:srgbClr val="2E7D5B"/>
                </a:solidFill>
                <a:latin typeface="Calibri"/>
              </a:rPr>
              <a:t>NOTE →  </a:t>
            </a:r>
            <a:r>
              <a:rPr sz="1260" b="1" i="0">
                <a:solidFill>
                  <a:srgbClr val="0E2C4B"/>
                </a:solidFill>
                <a:latin typeface="Calibri"/>
              </a:rPr>
              <a:t>§7.4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8" b="0" i="0">
                <a:solidFill>
                  <a:srgbClr val="6A6A6A"/>
                </a:solidFill>
                <a:latin typeface="Calibri"/>
              </a:rPr>
              <a:t>APL-only breaches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781171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0E2C4B"/>
                </a:solidFill>
                <a:latin typeface="Calibri"/>
              </a:rPr>
              <a:t>An APL-only breach is not a model problem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554480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1" b="0" i="0">
                <a:solidFill>
                  <a:srgbClr val="1A1A1A"/>
                </a:solidFill>
                <a:latin typeface="Calibri"/>
              </a:rPr>
              <a:t>The standard prescribes the consequence, not the cure — the exception counts either way. Everything below is practice, not text.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121408"/>
            <a:ext cx="110578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638" b="1" i="0">
                <a:solidFill>
                  <a:srgbClr val="C2453C"/>
                </a:solidFill>
                <a:latin typeface="Calibri"/>
              </a:rPr>
              <a:t>The reflex to resist:  </a:t>
            </a:r>
            <a:r>
              <a:rPr sz="1638" b="0" i="0">
                <a:solidFill>
                  <a:srgbClr val="1A1A1A"/>
                </a:solidFill>
                <a:latin typeface="Calibri"/>
              </a:rPr>
              <a:t>recalibrating the model. HPL — the measure that isolates it — did not breach. Inflating VaR to cover intraday activity raises capital for risk the snapshot never held, and breaks PLA.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49808" y="2971800"/>
          <a:ext cx="10698480" cy="25434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14600"/>
                <a:gridCol w="3520440"/>
                <a:gridCol w="4663440"/>
              </a:tblGrid>
              <a:tr h="42391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Cause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The tell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Where the remedy sits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</a:tr>
              <a:tr h="423915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Intraday position building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peak intraday risk far above the snapshot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intraday VaR / PV01 limits and monitoring — desk, not modelling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423915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Execution loss on round-trips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high turnover; P&amp;L lost on fills, not direction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execution quality review, transaction cost analysis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423915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A new or modified deal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one large trade booked during the day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day-one P&amp;L review, new-product approval, pricing validation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423915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A non-daily valuation adjustment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the breach falls on the reserve calendar date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nothing to remediate — a valuation-process artefact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423915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Booking or feed error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attributable to none of the above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reconcile — MAR32.29 ties both to the reported pricing stack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66928" y="5623560"/>
            <a:ext cx="11057839" cy="634959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5623560"/>
            <a:ext cx="82296" cy="634959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5623560"/>
            <a:ext cx="10600639" cy="6349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34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449" b="0" i="0">
                <a:solidFill>
                  <a:srgbClr val="1A1A1A"/>
                </a:solidFill>
                <a:latin typeface="Calibri"/>
              </a:rPr>
              <a:t>Recurring APL-only breaches still send the desk to the standardised approach — with a sound model. The remedy is intraday limits, not model tuning.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6492240"/>
            <a:ext cx="6309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BCBS MAR32 / MAR33 / CAP30; companion note APL_vs_HPL_Backtesting_Note_v14.docx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39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7728" y="6492240"/>
            <a:ext cx="41056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Note: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§7.4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23" b="1" i="0">
                <a:solidFill>
                  <a:srgbClr val="C2453C"/>
                </a:solidFill>
                <a:latin typeface="Calibri"/>
              </a:rPr>
              <a:t>SESSION 5 · GETTING IT RIGHT</a:t>
            </a:r>
          </a:p>
        </p:txBody>
      </p:sp>
      <p:sp>
        <p:nvSpPr>
          <p:cNvPr id="3" name="Rectangle 2"/>
          <p:cNvSpPr/>
          <p:nvPr/>
        </p:nvSpPr>
        <p:spPr>
          <a:xfrm>
            <a:off x="8607247" y="274320"/>
            <a:ext cx="3017520" cy="512064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07247" y="274320"/>
            <a:ext cx="64008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1839" y="274320"/>
            <a:ext cx="2743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71" b="1" i="0">
                <a:solidFill>
                  <a:srgbClr val="2E7D5B"/>
                </a:solidFill>
                <a:latin typeface="Calibri"/>
              </a:rPr>
              <a:t>NOTE →  </a:t>
            </a:r>
            <a:r>
              <a:rPr sz="1260" b="1" i="0">
                <a:solidFill>
                  <a:srgbClr val="0E2C4B"/>
                </a:solidFill>
                <a:latin typeface="Calibri"/>
              </a:rPr>
              <a:t>§8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8" b="0" i="0">
                <a:solidFill>
                  <a:srgbClr val="6A6A6A"/>
                </a:solidFill>
                <a:latin typeface="Calibri"/>
              </a:rPr>
              <a:t>common beliefs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781171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0E2C4B"/>
                </a:solidFill>
                <a:latin typeface="Calibri"/>
              </a:rPr>
              <a:t>Four beliefs that change an implementation decision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49808" y="1691640"/>
          <a:ext cx="10698480" cy="37371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66160"/>
                <a:gridCol w="5212080"/>
                <a:gridCol w="1920240"/>
              </a:tblGrid>
              <a:tr h="747430">
                <a:tc>
                  <a:txBody>
                    <a:bodyPr wrap="square"/>
                    <a:lstStyle/>
                    <a:p>
                      <a:pPr algn="l"/>
                      <a:r>
                        <a:rPr sz="1260" b="1">
                          <a:solidFill>
                            <a:srgbClr val="FFFFFF"/>
                          </a:solidFill>
                          <a:latin typeface="Calibri"/>
                        </a:rPr>
                        <a:t>Common belief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60" b="1">
                          <a:solidFill>
                            <a:srgbClr val="FFFFFF"/>
                          </a:solidFill>
                          <a:latin typeface="Calibri"/>
                        </a:rPr>
                        <a:t>The position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60" b="1">
                          <a:solidFill>
                            <a:srgbClr val="FFFFFF"/>
                          </a:solidFill>
                          <a:latin typeface="Calibri"/>
                        </a:rPr>
                        <a:t>Reference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</a:tr>
              <a:tr h="747430">
                <a:tc>
                  <a:txBody>
                    <a:bodyPr wrap="square"/>
                    <a:lstStyle/>
                    <a:p>
                      <a:pPr algn="l"/>
                      <a:r>
                        <a:rPr sz="1320" b="0">
                          <a:solidFill>
                            <a:srgbClr val="1A1A1A"/>
                          </a:solidFill>
                          <a:latin typeface="Calibri"/>
                        </a:rPr>
                        <a:t>HPL reprices today's book using yesterday's market data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20" b="0">
                          <a:solidFill>
                            <a:srgbClr val="C2453C"/>
                          </a:solidFill>
                          <a:latin typeface="Calibri"/>
                        </a:rPr>
                        <a:t>Inverted. Positions from the end of the previous day, market data of the present day.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20" b="0">
                          <a:solidFill>
                            <a:srgbClr val="1A1A1A"/>
                          </a:solidFill>
                          <a:latin typeface="Calibri"/>
                        </a:rPr>
                        <a:t>MAR32.25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747430">
                <a:tc>
                  <a:txBody>
                    <a:bodyPr wrap="square"/>
                    <a:lstStyle/>
                    <a:p>
                      <a:pPr algn="l"/>
                      <a:r>
                        <a:rPr sz="1320" b="0">
                          <a:solidFill>
                            <a:srgbClr val="1A1A1A"/>
                          </a:solidFill>
                          <a:latin typeface="Calibri"/>
                        </a:rPr>
                        <a:t>APL includes execution fees and commissions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20" b="0">
                          <a:solidFill>
                            <a:srgbClr val="C2453C"/>
                          </a:solidFill>
                          <a:latin typeface="Calibri"/>
                        </a:rPr>
                        <a:t>Excluded from both APL and HPL.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20" b="0">
                          <a:solidFill>
                            <a:srgbClr val="1A1A1A"/>
                          </a:solidFill>
                          <a:latin typeface="Calibri"/>
                        </a:rPr>
                        <a:t>MAR32.26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747430">
                <a:tc>
                  <a:txBody>
                    <a:bodyPr wrap="square"/>
                    <a:lstStyle/>
                    <a:p>
                      <a:pPr algn="l"/>
                      <a:r>
                        <a:rPr sz="1320" b="0">
                          <a:solidFill>
                            <a:srgbClr val="1A1A1A"/>
                          </a:solidFill>
                          <a:latin typeface="Calibri"/>
                        </a:rPr>
                        <a:t>APL is the accounting P&amp;L — what hits the ledger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20" b="0">
                          <a:solidFill>
                            <a:srgbClr val="C2453C"/>
                          </a:solidFill>
                          <a:latin typeface="Calibri"/>
                        </a:rPr>
                        <a:t>Anchored to the reported daily P&amp;L, but with fees, commissions, CVA and CET1-deducted VAs removed.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20" b="0">
                          <a:solidFill>
                            <a:srgbClr val="1A1A1A"/>
                          </a:solidFill>
                          <a:latin typeface="Calibri"/>
                        </a:rPr>
                        <a:t>MAR32.26, 32.29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747430">
                <a:tc>
                  <a:txBody>
                    <a:bodyPr wrap="square"/>
                    <a:lstStyle/>
                    <a:p>
                      <a:pPr algn="l"/>
                      <a:r>
                        <a:rPr sz="1320" b="0">
                          <a:solidFill>
                            <a:srgbClr val="1A1A1A"/>
                          </a:solidFill>
                          <a:latin typeface="Calibri"/>
                        </a:rPr>
                        <a:t>The supervisory response depends on which measure breached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20" b="0">
                          <a:solidFill>
                            <a:srgbClr val="C2453C"/>
                          </a:solidFill>
                          <a:latin typeface="Calibri"/>
                        </a:rPr>
                        <a:t>Counted separately; the greater governs, and the add-on follows that maximum.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20" b="0">
                          <a:solidFill>
                            <a:srgbClr val="1A1A1A"/>
                          </a:solidFill>
                          <a:latin typeface="Calibri"/>
                        </a:rPr>
                        <a:t>MAR32.5(1), 32.18(1),
MAR33.42(4)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5623560"/>
            <a:ext cx="11057839" cy="634959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5623560"/>
            <a:ext cx="82296" cy="634959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5623560"/>
            <a:ext cx="10600639" cy="6349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34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449" b="0" i="0">
                <a:solidFill>
                  <a:srgbClr val="1A1A1A"/>
                </a:solidFill>
                <a:latin typeface="Calibri"/>
              </a:rPr>
              <a:t>The first two survive into production documentation more often than any others. Both are checkable against your own P&amp;L feed this afternoon.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6309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BCBS MAR32 / MAR33 / CAP30; companion note APL_vs_HPL_Backtesting_Note_v14.docx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6492240"/>
            <a:ext cx="41056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Note: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§8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23" b="1" i="0">
                <a:solidFill>
                  <a:srgbClr val="C2453C"/>
                </a:solidFill>
                <a:latin typeface="Calibri"/>
              </a:rPr>
              <a:t>SESSION 5 · GETTING IT RIGHT</a:t>
            </a:r>
          </a:p>
        </p:txBody>
      </p:sp>
      <p:sp>
        <p:nvSpPr>
          <p:cNvPr id="3" name="Rectangle 2"/>
          <p:cNvSpPr/>
          <p:nvPr/>
        </p:nvSpPr>
        <p:spPr>
          <a:xfrm>
            <a:off x="8607247" y="274320"/>
            <a:ext cx="3017520" cy="512064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07247" y="274320"/>
            <a:ext cx="64008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1839" y="274320"/>
            <a:ext cx="2743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71" b="1" i="0">
                <a:solidFill>
                  <a:srgbClr val="2E7D5B"/>
                </a:solidFill>
                <a:latin typeface="Calibri"/>
              </a:rPr>
              <a:t>NOTE →  </a:t>
            </a:r>
            <a:r>
              <a:rPr sz="1260" b="1" i="0">
                <a:solidFill>
                  <a:srgbClr val="0E2C4B"/>
                </a:solidFill>
                <a:latin typeface="Calibri"/>
              </a:rPr>
              <a:t>§8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8" b="0" i="0">
                <a:solidFill>
                  <a:srgbClr val="6A6A6A"/>
                </a:solidFill>
                <a:latin typeface="Calibri"/>
              </a:rPr>
              <a:t>common beliefs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781171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0E2C4B"/>
                </a:solidFill>
                <a:latin typeface="Calibri"/>
              </a:rPr>
              <a:t>Three more, all of them cheap to check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49808" y="1737360"/>
          <a:ext cx="10698480" cy="24988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66160"/>
                <a:gridCol w="5212080"/>
                <a:gridCol w="1920240"/>
              </a:tblGrid>
              <a:tr h="624718">
                <a:tc>
                  <a:txBody>
                    <a:bodyPr wrap="square"/>
                    <a:lstStyle/>
                    <a:p>
                      <a:pPr algn="l"/>
                      <a:r>
                        <a:rPr sz="1260" b="1">
                          <a:solidFill>
                            <a:srgbClr val="FFFFFF"/>
                          </a:solidFill>
                          <a:latin typeface="Calibri"/>
                        </a:rPr>
                        <a:t>Common belief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60" b="1">
                          <a:solidFill>
                            <a:srgbClr val="FFFFFF"/>
                          </a:solidFill>
                          <a:latin typeface="Calibri"/>
                        </a:rPr>
                        <a:t>The position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60" b="1">
                          <a:solidFill>
                            <a:srgbClr val="FFFFFF"/>
                          </a:solidFill>
                          <a:latin typeface="Calibri"/>
                        </a:rPr>
                        <a:t>Reference</a:t>
                      </a:r>
                    </a:p>
                  </a:txBody>
                  <a:tcPr marL="54864" marR="54864" marT="9144" marB="9144" anchor="ctr">
                    <a:solidFill>
                      <a:srgbClr val="0E2C4B"/>
                    </a:solidFill>
                    <a:lnB w="12000" cap="flat">
                      <a:solidFill>
                        <a:srgbClr val="0E2C4B"/>
                      </a:solidFill>
                    </a:lnB>
                  </a:tcPr>
                </a:tc>
              </a:tr>
              <a:tr h="624718">
                <a:tc>
                  <a:txBody>
                    <a:bodyPr wrap="square"/>
                    <a:lstStyle/>
                    <a:p>
                      <a:pPr algn="l"/>
                      <a:r>
                        <a:rPr sz="1320" b="0">
                          <a:solidFill>
                            <a:srgbClr val="1A1A1A"/>
                          </a:solidFill>
                          <a:latin typeface="Calibri"/>
                        </a:rPr>
                        <a:t>Bid-ask is excluded from APL along with fees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20" b="0">
                          <a:solidFill>
                            <a:srgbClr val="C2453C"/>
                          </a:solidFill>
                          <a:latin typeface="Calibri"/>
                        </a:rPr>
                        <a:t>Market-risk-related VAs, which include close-out and bid-offer, remain in APL regardless of update frequency.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20" b="0">
                          <a:solidFill>
                            <a:srgbClr val="1A1A1A"/>
                          </a:solidFill>
                          <a:latin typeface="Calibri"/>
                        </a:rPr>
                        <a:t>MAR32.27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624718">
                <a:tc>
                  <a:txBody>
                    <a:bodyPr wrap="square"/>
                    <a:lstStyle/>
                    <a:p>
                      <a:pPr algn="l"/>
                      <a:r>
                        <a:rPr sz="1320" b="0">
                          <a:solidFill>
                            <a:srgbClr val="1A1A1A"/>
                          </a:solidFill>
                          <a:latin typeface="Calibri"/>
                        </a:rPr>
                        <a:t>Desk backtesting is run at the 99th percentile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20" b="0">
                          <a:solidFill>
                            <a:srgbClr val="C2453C"/>
                          </a:solidFill>
                          <a:latin typeface="Calibri"/>
                        </a:rPr>
                        <a:t>Run at both the 97.5th and the 99th.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20" b="0">
                          <a:solidFill>
                            <a:srgbClr val="1A1A1A"/>
                          </a:solidFill>
                          <a:latin typeface="Calibri"/>
                        </a:rPr>
                        <a:t>MAR32.18</a:t>
                      </a:r>
                    </a:p>
                  </a:txBody>
                  <a:tcPr marL="54864" marR="54864" marT="9144" marB="9144" anchor="ctr">
                    <a:solidFill>
                      <a:srgbClr val="F3F2E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  <a:tr h="624718">
                <a:tc>
                  <a:txBody>
                    <a:bodyPr wrap="square"/>
                    <a:lstStyle/>
                    <a:p>
                      <a:pPr algn="l"/>
                      <a:r>
                        <a:rPr sz="1320" b="0">
                          <a:solidFill>
                            <a:srgbClr val="1A1A1A"/>
                          </a:solidFill>
                          <a:latin typeface="Calibri"/>
                        </a:rPr>
                        <a:t>VaR / ES models the intraday P&amp;L component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20" b="0">
                          <a:solidFill>
                            <a:srgbClr val="C2453C"/>
                          </a:solidFill>
                          <a:latin typeface="Calibri"/>
                        </a:rPr>
                        <a:t>Nothing asks the model to. Intraday activity is excluded from HPL by construction; APL is the control that detects it.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20" b="0">
                          <a:solidFill>
                            <a:srgbClr val="1A1A1A"/>
                          </a:solidFill>
                          <a:latin typeface="Calibri"/>
                        </a:rPr>
                        <a:t>MAR32.25, 32.4</a:t>
                      </a:r>
                    </a:p>
                  </a:txBody>
                  <a:tcPr marL="54864" marR="54864" marT="9144" marB="9144" anchor="ctr">
                    <a:solidFill>
                      <a:srgbClr val="FFFFFF"/>
                    </a:solidFill>
                    <a:lnB w="4000" cap="flat">
                      <a:solidFill>
                        <a:srgbClr val="E4E0D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4539996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4462272"/>
            <a:ext cx="108200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638" b="1" i="0">
                <a:solidFill>
                  <a:srgbClr val="0E2C4B"/>
                </a:solidFill>
                <a:latin typeface="Calibri"/>
              </a:rPr>
              <a:t>The pattern behind all seven.  </a:t>
            </a:r>
            <a:r>
              <a:rPr sz="1638" b="0" i="0">
                <a:solidFill>
                  <a:srgbClr val="1A1A1A"/>
                </a:solidFill>
                <a:latin typeface="Calibri"/>
              </a:rPr>
              <a:t>each comes from reasoning about what a number is called, or what VaR does, instead of reading what the standard says belongs in each measure.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5623560"/>
            <a:ext cx="11057839" cy="634959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5623560"/>
            <a:ext cx="82296" cy="634959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5623560"/>
            <a:ext cx="10600639" cy="6349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34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449" b="0" i="0">
                <a:solidFill>
                  <a:srgbClr val="1A1A1A"/>
                </a:solidFill>
                <a:latin typeface="Calibri"/>
              </a:rPr>
              <a:t>None of these is subtle once stated. All of them are expensive if they reach a model-validation review before you do.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6492240"/>
            <a:ext cx="6309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BCBS MAR32 / MAR33 / CAP30; companion note APL_vs_HPL_Backtesting_Note_v14.docx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41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7728" y="6492240"/>
            <a:ext cx="41056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Note: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§8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23" b="1" i="0">
                <a:solidFill>
                  <a:srgbClr val="C2453C"/>
                </a:solidFill>
                <a:latin typeface="Calibri"/>
              </a:rPr>
              <a:t>SESSION 5 · GETTING IT RIGHT</a:t>
            </a:r>
          </a:p>
        </p:txBody>
      </p:sp>
      <p:sp>
        <p:nvSpPr>
          <p:cNvPr id="3" name="Rectangle 2"/>
          <p:cNvSpPr/>
          <p:nvPr/>
        </p:nvSpPr>
        <p:spPr>
          <a:xfrm>
            <a:off x="8607247" y="274320"/>
            <a:ext cx="3017520" cy="512064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07247" y="274320"/>
            <a:ext cx="64008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1839" y="274320"/>
            <a:ext cx="2743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71" b="1" i="0">
                <a:solidFill>
                  <a:srgbClr val="2E7D5B"/>
                </a:solidFill>
                <a:latin typeface="Calibri"/>
              </a:rPr>
              <a:t>NOTE →  </a:t>
            </a:r>
            <a:r>
              <a:rPr sz="1260" b="1" i="0">
                <a:solidFill>
                  <a:srgbClr val="0E2C4B"/>
                </a:solidFill>
                <a:latin typeface="Calibri"/>
              </a:rPr>
              <a:t>Appendix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8" b="0" i="0">
                <a:solidFill>
                  <a:srgbClr val="6A6A6A"/>
                </a:solidFill>
                <a:latin typeface="Calibri"/>
              </a:rPr>
              <a:t>scope note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781171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0E2C4B"/>
                </a:solidFill>
                <a:latin typeface="Calibri"/>
              </a:rPr>
              <a:t>What this deck deliberately leaves out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554480"/>
            <a:ext cx="352044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554480"/>
            <a:ext cx="3520440" cy="82296"/>
          </a:xfrm>
          <a:prstGeom prst="rect">
            <a:avLst/>
          </a:prstGeom>
          <a:solidFill>
            <a:srgbClr val="5B7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73736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23" b="1" i="0">
                <a:solidFill>
                  <a:srgbClr val="5B7B99"/>
                </a:solidFill>
                <a:latin typeface="Calibri"/>
              </a:rPr>
              <a:t>RISK-THEORETICAL P&amp;L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176272"/>
            <a:ext cx="31546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60" b="0" i="0">
                <a:solidFill>
                  <a:srgbClr val="1A1A1A"/>
                </a:solidFill>
                <a:latin typeface="Calibri"/>
              </a:rPr>
              <a:t>Its definition and required risk-factor coverage, including the requirement that RTPL carry non-modellable risk factors even though they sit outside the expected shortfall model.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71" b="1" i="0">
                <a:solidFill>
                  <a:srgbClr val="5B7B99"/>
                </a:solidFill>
                <a:latin typeface="Calibri"/>
              </a:rPr>
              <a:t>EXAMPLE   </a:t>
            </a:r>
            <a:r>
              <a:rPr sz="1171" b="0" i="0">
                <a:solidFill>
                  <a:srgbClr val="6A6A6A"/>
                </a:solidFill>
                <a:latin typeface="Calibri"/>
              </a:rPr>
              <a:t>MAR32.22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554480"/>
            <a:ext cx="352044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554480"/>
            <a:ext cx="3520440" cy="82296"/>
          </a:xfrm>
          <a:prstGeom prst="rect">
            <a:avLst/>
          </a:prstGeom>
          <a:solidFill>
            <a:srgbClr val="5B7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73736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23" b="1" i="0">
                <a:solidFill>
                  <a:srgbClr val="5B7B99"/>
                </a:solidFill>
                <a:latin typeface="Calibri"/>
              </a:rPr>
              <a:t>THE PLA TEST ITSELF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176272"/>
            <a:ext cx="31546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60" b="0" i="0">
                <a:solidFill>
                  <a:srgbClr val="1A1A1A"/>
                </a:solidFill>
                <a:latin typeface="Calibri"/>
              </a:rPr>
              <a:t>Spearman correlation and the Kolmogorov-Smirnov metric, the 250-day window, the green, amber and red thresholds, and the capital consequences.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71" b="1" i="0">
                <a:solidFill>
                  <a:srgbClr val="5B7B99"/>
                </a:solidFill>
                <a:latin typeface="Calibri"/>
              </a:rPr>
              <a:t>EXAMPLE   </a:t>
            </a:r>
            <a:r>
              <a:rPr sz="1171" b="0" i="0">
                <a:solidFill>
                  <a:srgbClr val="6A6A6A"/>
                </a:solidFill>
                <a:latin typeface="Calibri"/>
              </a:rPr>
              <a:t>MAR32.34–32.44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28432" y="1554480"/>
            <a:ext cx="352044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28432" y="1554480"/>
            <a:ext cx="3520440" cy="82296"/>
          </a:xfrm>
          <a:prstGeom prst="rect">
            <a:avLst/>
          </a:prstGeom>
          <a:solidFill>
            <a:srgbClr val="5B7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11312" y="173736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23" b="1" i="0">
                <a:solidFill>
                  <a:srgbClr val="5B7B99"/>
                </a:solidFill>
                <a:latin typeface="Calibri"/>
              </a:rPr>
              <a:t>PLA DATA ALIGNMENT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1312" y="2176272"/>
            <a:ext cx="31546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260" b="0" i="0">
                <a:solidFill>
                  <a:srgbClr val="1A1A1A"/>
                </a:solidFill>
                <a:latin typeface="Calibri"/>
              </a:rPr>
              <a:t>Including the asymmetry that RTPL may be aligned to HPL inputs but not the reverse, and the prohibition on adjusting for residual operational noise.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71" b="1" i="0">
                <a:solidFill>
                  <a:srgbClr val="5B7B99"/>
                </a:solidFill>
                <a:latin typeface="Calibri"/>
              </a:rPr>
              <a:t>EXAMPLE   </a:t>
            </a:r>
            <a:r>
              <a:rPr sz="1171" b="0" i="0">
                <a:solidFill>
                  <a:srgbClr val="6A6A6A"/>
                </a:solidFill>
                <a:latin typeface="Calibri"/>
              </a:rPr>
              <a:t>MAR32.30–32.33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4434840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764" b="1" i="0">
                <a:solidFill>
                  <a:srgbClr val="C2453C"/>
                </a:solidFill>
                <a:latin typeface="Calibri"/>
              </a:rPr>
              <a:t>One cross-reference worth carrying:  </a:t>
            </a:r>
            <a:r>
              <a:rPr sz="1764" b="0" i="0">
                <a:solidFill>
                  <a:srgbClr val="1A1A1A"/>
                </a:solidFill>
                <a:latin typeface="Calibri"/>
              </a:rPr>
              <a:t>HPL is the single measure appearing in both regimes — the HPL used for the PLA test must be identical to the HPL used for backtesting (MAR32.24).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5623560"/>
            <a:ext cx="11057839" cy="634959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5623560"/>
            <a:ext cx="82296" cy="634959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5623560"/>
            <a:ext cx="10600639" cy="6349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34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449" b="0" i="0">
                <a:solidFill>
                  <a:srgbClr val="1A1A1A"/>
                </a:solidFill>
                <a:latin typeface="Calibri"/>
              </a:rPr>
              <a:t>Get the HPL definition wrong and the error lands in the backtest and the attribution test at the same time.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6492240"/>
            <a:ext cx="6309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BCBS MAR32 / MAR33 / CAP30; companion note APL_vs_HPL_Backtesting_Note_v14.docx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42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67728" y="6492240"/>
            <a:ext cx="41056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Note: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Appendix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79488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23" b="1" i="0">
                <a:solidFill>
                  <a:srgbClr val="C2453C"/>
                </a:solidFill>
                <a:latin typeface="Calibri"/>
              </a:rPr>
              <a:t>SESSION 5 · GETTING IT RIGHT</a:t>
            </a:r>
          </a:p>
        </p:txBody>
      </p:sp>
      <p:sp>
        <p:nvSpPr>
          <p:cNvPr id="3" name="Rectangle 2"/>
          <p:cNvSpPr/>
          <p:nvPr/>
        </p:nvSpPr>
        <p:spPr>
          <a:xfrm>
            <a:off x="8607247" y="274320"/>
            <a:ext cx="3017520" cy="512064"/>
          </a:xfrm>
          <a:prstGeom prst="rect">
            <a:avLst/>
          </a:prstGeom>
          <a:solidFill>
            <a:srgbClr val="E7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07247" y="274320"/>
            <a:ext cx="64008" cy="512064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1839" y="274320"/>
            <a:ext cx="27432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71" b="1" i="0">
                <a:solidFill>
                  <a:srgbClr val="2E7D5B"/>
                </a:solidFill>
                <a:latin typeface="Calibri"/>
              </a:rPr>
              <a:t>NOTE →  </a:t>
            </a:r>
            <a:r>
              <a:rPr sz="1260" b="1" i="0">
                <a:solidFill>
                  <a:srgbClr val="0E2C4B"/>
                </a:solidFill>
                <a:latin typeface="Calibri"/>
              </a:rPr>
              <a:t>§9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8" b="0" i="0">
                <a:solidFill>
                  <a:srgbClr val="6A6A6A"/>
                </a:solidFill>
                <a:latin typeface="Calibri"/>
              </a:rPr>
              <a:t>bottom 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781171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52" b="1" i="0">
                <a:solidFill>
                  <a:srgbClr val="0E2C4B"/>
                </a:solidFill>
                <a:latin typeface="Calibri"/>
              </a:rPr>
              <a:t>Two measures. One rule.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302449"/>
            <a:ext cx="960120" cy="28575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677924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600200"/>
            <a:ext cx="8778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1" b="1" i="0">
                <a:solidFill>
                  <a:srgbClr val="0E2C4B"/>
                </a:solidFill>
                <a:latin typeface="Calibri"/>
              </a:rPr>
              <a:t>HPL.  </a:t>
            </a:r>
            <a:r>
              <a:rPr sz="1701" b="0" i="0">
                <a:solidFill>
                  <a:srgbClr val="1A1A1A"/>
                </a:solidFill>
                <a:latin typeface="Calibri"/>
              </a:rPr>
              <a:t>yesterday's positions, revalued on today's market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0928" y="1600200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60" b="0" i="0">
                <a:solidFill>
                  <a:srgbClr val="6A6A6A"/>
                </a:solidFill>
                <a:latin typeface="Calibri"/>
              </a:rPr>
              <a:t>MAR32.25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208276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130552"/>
            <a:ext cx="8778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1" b="1" i="0">
                <a:solidFill>
                  <a:srgbClr val="0E2C4B"/>
                </a:solidFill>
                <a:latin typeface="Calibri"/>
              </a:rPr>
              <a:t>APL.  </a:t>
            </a:r>
            <a:r>
              <a:rPr sz="1701" b="0" i="0">
                <a:solidFill>
                  <a:srgbClr val="1A1A1A"/>
                </a:solidFill>
                <a:latin typeface="Calibri"/>
              </a:rPr>
              <a:t>the reported daily P&amp;L of a real trading day, adjusted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10928" y="2130552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60" b="0" i="0">
                <a:solidFill>
                  <a:srgbClr val="6A6A6A"/>
                </a:solidFill>
                <a:latin typeface="Calibri"/>
              </a:rPr>
              <a:t>MAR32.26, 32.29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738628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2660904"/>
            <a:ext cx="8778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1" b="1" i="0">
                <a:solidFill>
                  <a:srgbClr val="0E2C4B"/>
                </a:solidFill>
                <a:latin typeface="Calibri"/>
              </a:rPr>
              <a:t>Both exclude.  </a:t>
            </a:r>
            <a:r>
              <a:rPr sz="1701" b="0" i="0">
                <a:solidFill>
                  <a:srgbClr val="1A1A1A"/>
                </a:solidFill>
                <a:latin typeface="Calibri"/>
              </a:rPr>
              <a:t>fees, commissions, CVA and its hedges, CET1-deducted VAs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268980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191256"/>
            <a:ext cx="8778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1" b="1" i="0">
                <a:solidFill>
                  <a:srgbClr val="0E2C4B"/>
                </a:solidFill>
                <a:latin typeface="Calibri"/>
              </a:rPr>
              <a:t>Bid-offer stays.  </a:t>
            </a:r>
            <a:r>
              <a:rPr sz="1701" b="0" i="0">
                <a:solidFill>
                  <a:srgbClr val="1A1A1A"/>
                </a:solidFill>
                <a:latin typeface="Calibri"/>
              </a:rPr>
              <a:t>in APL always; in HPL when recalculated daily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10928" y="3191256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60" b="0" i="0">
                <a:solidFill>
                  <a:srgbClr val="6A6A6A"/>
                </a:solidFill>
                <a:latin typeface="Calibri"/>
              </a:rPr>
              <a:t>MAR32.27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3799332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3721608"/>
            <a:ext cx="8778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1" b="1" i="0">
                <a:solidFill>
                  <a:srgbClr val="0E2C4B"/>
                </a:solidFill>
                <a:latin typeface="Calibri"/>
              </a:rPr>
              <a:t>Time effects.  </a:t>
            </a:r>
            <a:r>
              <a:rPr sz="1701" b="0" i="0">
                <a:solidFill>
                  <a:srgbClr val="1A1A1A"/>
                </a:solidFill>
                <a:latin typeface="Calibri"/>
              </a:rPr>
              <a:t>belong in APL, treated consistently across all three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10928" y="3721608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60" b="0" i="0">
                <a:solidFill>
                  <a:srgbClr val="6A6A6A"/>
                </a:solidFill>
                <a:latin typeface="Calibri"/>
              </a:rPr>
              <a:t>MAR32.27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4329684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251960"/>
            <a:ext cx="8778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1" b="1" i="0">
                <a:solidFill>
                  <a:srgbClr val="0E2C4B"/>
                </a:solidFill>
                <a:latin typeface="Calibri"/>
              </a:rPr>
              <a:t>Both are backtested.  </a:t>
            </a:r>
            <a:r>
              <a:rPr sz="1701" b="0" i="0">
                <a:solidFill>
                  <a:srgbClr val="1A1A1A"/>
                </a:solidFill>
                <a:latin typeface="Calibri"/>
              </a:rPr>
              <a:t>against the one-day VaR over the prior 12 months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10928" y="4251960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60" b="0" i="0">
                <a:solidFill>
                  <a:srgbClr val="6A6A6A"/>
                </a:solidFill>
                <a:latin typeface="Calibri"/>
              </a:rPr>
              <a:t>MAR32.4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4860036"/>
            <a:ext cx="100584" cy="100584"/>
          </a:xfrm>
          <a:prstGeom prst="rect">
            <a:avLst/>
          </a:prstGeom>
          <a:solidFill>
            <a:srgbClr val="C24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4782312"/>
            <a:ext cx="8778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1" b="1" i="0">
                <a:solidFill>
                  <a:srgbClr val="0E2C4B"/>
                </a:solidFill>
                <a:latin typeface="Calibri"/>
              </a:rPr>
              <a:t>The greater count governs.  </a:t>
            </a:r>
            <a:r>
              <a:rPr sz="1701" b="0" i="0">
                <a:solidFill>
                  <a:srgbClr val="1A1A1A"/>
                </a:solidFill>
                <a:latin typeface="Calibri"/>
              </a:rPr>
              <a:t>at bank-wide and desk level alike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10928" y="4782312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60" b="0" i="0">
                <a:solidFill>
                  <a:srgbClr val="6A6A6A"/>
                </a:solidFill>
                <a:latin typeface="Calibri"/>
              </a:rPr>
              <a:t>MAR32.5(1), 32.18(1)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5623560"/>
            <a:ext cx="11057839" cy="634959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5623560"/>
            <a:ext cx="82296" cy="634959"/>
          </a:xfrm>
          <a:prstGeom prst="rect">
            <a:avLst/>
          </a:prstGeom>
          <a:solidFill>
            <a:srgbClr val="0E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" y="5623560"/>
            <a:ext cx="10600639" cy="63495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1134" b="1" i="0">
                <a:solidFill>
                  <a:srgbClr val="0E2C4B"/>
                </a:solidFill>
                <a:latin typeface="Calibri"/>
              </a:rPr>
              <a:t>THE TAKEAWAY   </a:t>
            </a:r>
            <a:r>
              <a:rPr sz="1449" b="0" i="0">
                <a:solidFill>
                  <a:srgbClr val="1A1A1A"/>
                </a:solidFill>
                <a:latin typeface="Calibri"/>
              </a:rPr>
              <a:t>The capital consequence always follows the worse of the two. That is the whole framework in one sentence.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6442710"/>
            <a:ext cx="11057839" cy="7620"/>
          </a:xfrm>
          <a:prstGeom prst="rect">
            <a:avLst/>
          </a:prstGeom>
          <a:solidFill>
            <a:srgbClr val="D9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6492240"/>
            <a:ext cx="6309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6A6A6A"/>
                </a:solidFill>
                <a:latin typeface="Calibri"/>
              </a:rPr>
              <a:t>Source: </a:t>
            </a:r>
            <a:r>
              <a:rPr sz="850" b="0" i="0">
                <a:solidFill>
                  <a:srgbClr val="6A6A6A"/>
                </a:solidFill>
                <a:latin typeface="Calibri"/>
              </a:rPr>
              <a:t>BCBS MAR32 / MAR33 / CAP30; companion note APL_vs_HPL_Backtesting_Note_v14.docx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67567" y="6492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2C4B"/>
                </a:solidFill>
                <a:latin typeface="Calibri"/>
              </a:rPr>
              <a:t>43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67728" y="6492240"/>
            <a:ext cx="41056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5574"/>
                </a:solidFill>
                <a:latin typeface="Calibri"/>
              </a:rPr>
              <a:t>Note: </a:t>
            </a:r>
            <a:r>
              <a:rPr sz="850" b="0" i="0">
                <a:solidFill>
                  <a:srgbClr val="355574"/>
                </a:solidFill>
                <a:latin typeface="Calibri"/>
              </a:rPr>
              <a:t>§9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Actual P&amp;L and Hypothetical P&amp;L — MAR32 backtesting</dc:title>
  <dc:subject>FRTB IMA — APL/HPL definitions, the valuation adjustment boundary, and backtesting consequences</dc:subject>
  <dc:creator>Amit</dc:creator>
  <cp:keywords/>
  <dc:description>generated using python-pptx</dc:description>
  <cp:lastModifiedBy>Amit</cp:lastModifiedBy>
  <cp:revision>1</cp:revision>
  <dcterms:created xsi:type="dcterms:W3CDTF">2013-01-27T09:14:16Z</dcterms:created>
  <dcterms:modified xsi:type="dcterms:W3CDTF">2013-01-27T09:15:58Z</dcterms:modified>
  <cp:category/>
</cp:coreProperties>
</file>