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ns0:sectionLst xmlns:ns0="http://schemas.microsoft.com/office/powerpoint/2010/main">
        <ns0:section name="Opening" id="{084F3DFF-350F-4DEF-AF0B-2289E878B3B2}">
          <ns0:sldIdLst>
            <ns0:sldId id="256"/>
          </ns0:sldIdLst>
        </ns0:section>
        <ns0:section name="Session 1 · Why Modellability Exists" id="{02184724-27B6-4E54-982E-82BBB3663E6A}">
          <ns0:sldIdLst>
            <ns0:sldId id="257"/>
            <ns0:sldId id="258"/>
            <ns0:sldId id="259"/>
            <ns0:sldId id="260"/>
            <ns0:sldId id="261"/>
            <ns0:sldId id="262"/>
          </ns0:sldIdLst>
        </ns0:section>
        <ns0:section name="Session 2 · The Bucketing Machinery" id="{9F3E8A51-3085-40F2-BA7C-A57AE88C9B2D}">
          <ns0:sldIdLst>
            <ns0:sldId id="263"/>
            <ns0:sldId id="264"/>
            <ns0:sldId id="265"/>
            <ns0:sldId id="266"/>
            <ns0:sldId id="267"/>
            <ns0:sldId id="268"/>
            <ns0:sldId id="269"/>
            <ns0:sldId id="270"/>
          </ns0:sldIdLst>
        </ns0:section>
        <ns0:section name="Session 3 · Own vs Regulatory &amp; the Guardrail" id="{B3A1C4E8-C7F8-4758-AB87-DC702F180FD7}">
          <ns0:sldIdLst>
            <ns0:sldId id="271"/>
            <ns0:sldId id="272"/>
            <ns0:sldId id="273"/>
            <ns0:sldId id="274"/>
            <ns0:sldId id="275"/>
            <ns0:sldId id="276"/>
            <ns0:sldId id="277"/>
            <ns0:sldId id="278"/>
            <ns0:sldId id="279"/>
          </ns0:sldIdLst>
        </ns0:section>
        <ns0:section name="Session 4 · Special Cases &amp; the Numbers" id="{3313AF03-DB39-4B3F-920A-CD0D9CABBAC2}">
          <ns0:sldIdLst>
            <ns0:sldId id="280"/>
            <ns0:sldId id="281"/>
            <ns0:sldId id="282"/>
            <ns0:sldId id="283"/>
            <ns0:sldId id="284"/>
            <ns0:sldId id="285"/>
            <ns0:sldId id="286"/>
            <ns0:sldId id="287"/>
            <ns0:sldId id="288"/>
          </ns0:sldIdLst>
        </ns0:section>
        <ns0:section name="Session 5 · Principles, Live Demo &amp; Wrap" id="{A824F605-62F8-4F18-9C5A-A42DF8DB9FA0}">
          <ns0:sldIdLst>
            <ns0:sldId id="289"/>
            <ns0:sldId id="290"/>
            <ns0:sldId id="291"/>
            <ns0:sldId id="292"/>
            <ns0:sldId id="293"/>
            <ns0:sldId id="294"/>
            <ns0:sldId id="295"/>
          </ns0:sldIdLst>
        </ns0:section>
      </ns0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k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02920"/>
            <a:ext cx="1691640" cy="1691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2286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7" b="1" i="0">
                <a:solidFill>
                  <a:srgbClr val="9DB4CC"/>
                </a:solidFill>
                <a:latin typeface="Calibri"/>
              </a:rPr>
              <a:t>FRTB  ·  INTERNAL MODELS APPROACH  ·  MAR31 RISK-FACTOR MODELLABILITY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743200"/>
            <a:ext cx="10789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640" b="1" i="0">
                <a:solidFill>
                  <a:srgbClr val="FFFFFF"/>
                </a:solidFill>
                <a:latin typeface="Calibri"/>
              </a:rPr>
              <a:t>Modellable or Not —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640" b="1" i="0">
                <a:solidFill>
                  <a:srgbClr val="FFFFFF"/>
                </a:solidFill>
                <a:latin typeface="Calibri"/>
              </a:rPr>
              <a:t>the RFET, Bucketing &amp; the Road to IMA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4327525"/>
            <a:ext cx="2011680" cy="3175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5262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23" b="0" i="0">
                <a:solidFill>
                  <a:srgbClr val="CFD8E2"/>
                </a:solidFill>
                <a:latin typeface="Calibri"/>
              </a:rPr>
              <a:t>Real prices, buckets, own-vs-regulatory elections, the seven data principles and the NMRF boundary — recorded walkthrough of a live Excel reference &amp; calculator (MAR31.12–31.26, touching MAR32 / MAR33).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486400"/>
            <a:ext cx="10451592" cy="713232"/>
          </a:xfrm>
          <a:prstGeom prst="rect">
            <a:avLst/>
          </a:prstGeom>
          <a:solidFill>
            <a:srgbClr val="16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5559552"/>
            <a:ext cx="49514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4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5897880"/>
            <a:ext cx="49514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2" b="0" i="0">
                <a:solidFill>
                  <a:srgbClr val="9DB4CC"/>
                </a:solidFill>
                <a:latin typeface="Calibri"/>
              </a:rPr>
              <a:t>workbook sheets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5644" y="5559552"/>
            <a:ext cx="49514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4" b="1" i="0">
                <a:solidFill>
                  <a:srgbClr val="FFFFFF"/>
                </a:solidFill>
                <a:latin typeface="Calibri"/>
              </a:rPr>
              <a:t>24 / 90d /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5644" y="5897880"/>
            <a:ext cx="49514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2" b="0" i="0">
                <a:solidFill>
                  <a:srgbClr val="9DB4CC"/>
                </a:solidFill>
                <a:latin typeface="Calibri"/>
              </a:rPr>
              <a:t>the RFET thresholds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8126" y="5605272"/>
            <a:ext cx="12700" cy="475488"/>
          </a:xfrm>
          <a:prstGeom prst="rect">
            <a:avLst/>
          </a:prstGeom>
          <a:solidFill>
            <a:srgbClr val="2C5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635508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2" b="0" i="0">
                <a:solidFill>
                  <a:srgbClr val="7E97B0"/>
                </a:solidFill>
                <a:latin typeface="Calibri"/>
              </a:rPr>
              <a:t>Market Risk — FRTB Programme   ·   companion workbook: MAR31_RFET_Bucketing_Reference_v23.xlsx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39" b="1" i="0">
                <a:solidFill>
                  <a:srgbClr val="C2453C"/>
                </a:solidFill>
                <a:latin typeface="Calibri"/>
              </a:rPr>
              <a:t>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46888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3944" b="1" i="0">
                <a:solidFill>
                  <a:srgbClr val="FFFFFF"/>
                </a:solidFill>
                <a:latin typeface="Calibri"/>
              </a:rPr>
              <a:t>Why Modellability Exists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687445"/>
            <a:ext cx="1554480" cy="3175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91" b="1" i="0">
                <a:solidFill>
                  <a:srgbClr val="9DB4CC"/>
                </a:solidFill>
                <a:latin typeface="Calibri"/>
              </a:rPr>
              <a:t>Excel sheets:  </a:t>
            </a:r>
            <a:r>
              <a:rPr sz="1391" b="0" i="0">
                <a:solidFill>
                  <a:srgbClr val="FFFFFF"/>
                </a:solidFill>
                <a:latin typeface="Calibri"/>
              </a:rPr>
              <a:t>00_README · 05_why_real_prices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WHY THIS TEST EXISTS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00_README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orientation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The RFET decides WHERE capital comes from — it is the per-risk-factor gate on the road to IMA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391" b="0" i="0">
                <a:solidFill>
                  <a:srgbClr val="1A1A1A"/>
                </a:solidFill>
                <a:latin typeface="Calibri"/>
              </a:rPr>
              <a:t>A trading desk wins Internal Models Approach (IMA) approval as a desk — but capital is computed from risk factors. Every single risk factor must separately prove it is </a:t>
            </a:r>
            <a:r>
              <a:rPr sz="1391" b="1" i="0">
                <a:solidFill>
                  <a:srgbClr val="0E2C4B"/>
                </a:solidFill>
                <a:latin typeface="Calibri"/>
              </a:rPr>
              <a:t>modellable</a:t>
            </a:r>
            <a:r>
              <a:rPr sz="1391" b="0" i="0">
                <a:solidFill>
                  <a:srgbClr val="1A1A1A"/>
                </a:solidFill>
                <a:latin typeface="Calibri"/>
              </a:rPr>
              <a:t>: evidenced by enough REAL market prices. The Risk Factor Eligibility Test (RFET) is that proof.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31720"/>
            <a:ext cx="2029968" cy="868680"/>
          </a:xfrm>
          <a:prstGeom prst="round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331720"/>
            <a:ext cx="1920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102" b="1" i="0">
                <a:solidFill>
                  <a:srgbClr val="FFFFFF"/>
                </a:solidFill>
                <a:latin typeface="Calibri"/>
              </a:rPr>
              <a:t>DESK GATE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FFFFFF"/>
                </a:solidFill>
                <a:latin typeface="Calibri"/>
              </a:rPr>
              <a:t>backtesting + P&amp;L attribution
(MAR32) — desk-level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6896" y="2331720"/>
            <a:ext cx="21945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55" b="1" i="0">
                <a:solidFill>
                  <a:srgbClr val="C2453C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6352" y="2331720"/>
            <a:ext cx="2029968" cy="868680"/>
          </a:xfrm>
          <a:prstGeom prst="round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71216" y="2331720"/>
            <a:ext cx="1920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102" b="1" i="0">
                <a:solidFill>
                  <a:srgbClr val="FFFFFF"/>
                </a:solidFill>
                <a:latin typeface="Calibri"/>
              </a:rPr>
              <a:t>FACTOR GATE — RFET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FFFFFF"/>
                </a:solidFill>
                <a:latin typeface="Calibri"/>
              </a:rPr>
              <a:t>≥24 real prices/yr + density,
or ≥100 (MAR31.12–13)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331720"/>
            <a:ext cx="21945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55" b="1" i="0">
                <a:solidFill>
                  <a:srgbClr val="C2453C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5776" y="2331720"/>
            <a:ext cx="2029968" cy="868680"/>
          </a:xfrm>
          <a:prstGeom prst="round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331720"/>
            <a:ext cx="1920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102" b="1" i="0">
                <a:solidFill>
                  <a:srgbClr val="FFFFFF"/>
                </a:solidFill>
                <a:latin typeface="Calibri"/>
              </a:rPr>
              <a:t>DATA PRINCIPLES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FFFFFF"/>
                </a:solidFill>
                <a:latin typeface="Calibri"/>
              </a:rPr>
              <a:t>7 ongoing conditions
(MAR31.25–26)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95744" y="2331720"/>
            <a:ext cx="21945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55" b="1" i="0">
                <a:solidFill>
                  <a:srgbClr val="C2453C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2331720"/>
            <a:ext cx="2029968" cy="868680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0064" y="2331720"/>
            <a:ext cx="1920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102" b="1" i="0">
                <a:solidFill>
                  <a:srgbClr val="FFFFFF"/>
                </a:solidFill>
                <a:latin typeface="Calibri"/>
              </a:rPr>
              <a:t>MODELLABLE → ES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FFFFFF"/>
                </a:solidFill>
                <a:latin typeface="Calibri"/>
              </a:rPr>
              <a:t>expected shortfall, netting,
diversification (MAR33)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2331720"/>
            <a:ext cx="21945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55" b="1" i="0">
                <a:solidFill>
                  <a:srgbClr val="C2453C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64624" y="2331720"/>
            <a:ext cx="2029968" cy="868680"/>
          </a:xfrm>
          <a:prstGeom prst="round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19488" y="2331720"/>
            <a:ext cx="1920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102" b="1" i="0">
                <a:solidFill>
                  <a:srgbClr val="FFFFFF"/>
                </a:solidFill>
                <a:latin typeface="Calibri"/>
              </a:rPr>
              <a:t>FAIL → NMRF → SES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FFFFFF"/>
                </a:solidFill>
                <a:latin typeface="Calibri"/>
              </a:rPr>
              <a:t>stress add-on, restricted
diversification (MAR33.16–17)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31012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60" b="0" i="1">
                <a:solidFill>
                  <a:srgbClr val="6A6A6A"/>
                </a:solidFill>
                <a:latin typeface="Calibri"/>
              </a:rPr>
              <a:t>The fork at the end is the whole game: the SAME position is capitalised from ES if its factors are modellable, from the punitive SES add-on if they are not.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018787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941063"/>
            <a:ext cx="67116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Why a per-factor test.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desk approval says your MODEL is sound; the RFET asks whether each INPUT is evidenced. A sound engine on unevidenced inputs is still unevidenced.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640579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4562855"/>
            <a:ext cx="67116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Why real prices.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capital protects against losses realised at EXIT prices; only transactions and committed quotes prove the market actually generates information about a point.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5262371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5184647"/>
            <a:ext cx="67116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Why it never ends.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the test re-runs QUARTERLY (monitored monthly) on a rolling 12-month window — modellability is rented, never owned.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18120" y="3913632"/>
            <a:ext cx="37947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18120" y="3913632"/>
            <a:ext cx="3794760" cy="64008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4" y="4078224"/>
            <a:ext cx="35021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C2453C"/>
                </a:solidFill>
                <a:latin typeface="Calibri"/>
              </a:rPr>
              <a:t>24 / 90d / 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64424" y="4553712"/>
            <a:ext cx="35021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2" b="1" i="0">
                <a:solidFill>
                  <a:srgbClr val="1A1A1A"/>
                </a:solidFill>
                <a:latin typeface="Calibri"/>
              </a:rPr>
              <a:t>The three RFET numbers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64424" y="4690872"/>
            <a:ext cx="3502152" cy="23774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obs per year · density window · alternative count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18120" y="5047488"/>
            <a:ext cx="37947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18120" y="5047488"/>
            <a:ext cx="3794760" cy="6400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64424" y="5212080"/>
            <a:ext cx="35021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20" b="1" i="0">
                <a:solidFill>
                  <a:srgbClr val="0E2C4B"/>
                </a:solidFill>
                <a:latin typeface="Calibri"/>
              </a:rPr>
              <a:t>Quarterly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64424" y="5687568"/>
            <a:ext cx="35021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2" b="1" i="0">
                <a:solidFill>
                  <a:srgbClr val="1A1A1A"/>
                </a:solidFill>
                <a:latin typeface="Calibri"/>
              </a:rPr>
              <a:t>Re-assessment frequency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64424" y="5687568"/>
            <a:ext cx="3502152" cy="23774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criterion (1) monitored monthly — MAR31.13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00_README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1 · THE RAW MATERIAL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60_calculator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header note, col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A price is 'real' four ways — and your own marks are excluded by name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0424160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"/>
                <a:gridCol w="6949440"/>
                <a:gridCol w="310896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Qualifies as a real price (MAR31.12)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Watch-out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 price at which the institution itself transacted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orderly, non-negligible size (FAQ)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 verifiable arm's-length transaction between other parties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verifiability is the test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 committed quote — provider MUST deal at it — collected &amp; verified via vendor / platform / exchange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indicative quotes never count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 third-party vendor price where the trade/quote passed through the vendor, evidence available to supervisors, or (1)–(3) met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vendor must meet MAR31.14 conditions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4160520"/>
            <a:ext cx="5394960" cy="1417320"/>
          </a:xfrm>
          <a:prstGeom prst="rect">
            <a:avLst/>
          </a:prstGeom>
          <a:solidFill>
            <a:srgbClr val="F7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160520"/>
            <a:ext cx="82296" cy="141732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4288536"/>
            <a:ext cx="5029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76" b="1" i="0">
                <a:solidFill>
                  <a:srgbClr val="C2453C"/>
                </a:solidFill>
                <a:latin typeface="Calibri"/>
              </a:rPr>
              <a:t>NOT real prices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18" b="0" i="0">
                <a:solidFill>
                  <a:srgbClr val="1A1A1A"/>
                </a:solidFill>
                <a:latin typeface="Calibri"/>
              </a:rPr>
              <a:t>Collateral reconciliations or valuations — excluded by name in 31.12. Your own marks, your counterparty's marks, consensus VALUATIONS: model output, not market evidence.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4160520"/>
            <a:ext cx="5349240" cy="141732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4160520"/>
            <a:ext cx="82296" cy="141732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288536"/>
            <a:ext cx="4983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76" b="1" i="0">
                <a:solidFill>
                  <a:srgbClr val="0E2C4B"/>
                </a:solidFill>
                <a:latin typeface="Calibri"/>
              </a:rPr>
              <a:t>Vendor conditions (MAR31.14)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18" b="0" i="0">
                <a:solidFill>
                  <a:srgbClr val="1A1A1A"/>
                </a:solidFill>
                <a:latin typeface="Calibri"/>
              </a:rPr>
              <a:t>Counts + dates communicated · identifier info to map prices to factors · vendor subject to an audit available to supervisors on request. Fail the audit → supervisor can ban the vendor's data.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623560"/>
            <a:ext cx="11057839" cy="593994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623560"/>
            <a:ext cx="82296" cy="593994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623560"/>
            <a:ext cx="10600639" cy="5939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4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One committed, verifiable quote is worth more than a thousand smooth consensus marks — the whole test runs on evidence that arrives from OUTSIDE the bank's own models.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60_calculator (real-price column S) · 90_citations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1 · THE PASS RULE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70_rfet_results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criteria columns D &amp;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Two ways to pass, one calendar discipline — 24 with density, or 100 flat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53949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17904"/>
            <a:ext cx="5394960" cy="45720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17904"/>
            <a:ext cx="5394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FFFFFF"/>
                </a:solidFill>
                <a:latin typeface="Calibri"/>
              </a:rPr>
              <a:t>CRITERION 1 — COUNT + DENSITY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103120"/>
            <a:ext cx="499262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7" b="1" i="0">
                <a:solidFill>
                  <a:srgbClr val="0E2C4B"/>
                </a:solidFill>
                <a:latin typeface="Calibri"/>
              </a:rPr>
              <a:t>≥ 24 real-price observations per year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76" b="0" i="0">
                <a:solidFill>
                  <a:srgbClr val="1A1A1A"/>
                </a:solidFill>
                <a:latin typeface="Calibri"/>
              </a:rPr>
              <a:t>AND no 90-day period with fewer than four observations, over the previous 12 months.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2" b="0" i="0">
                <a:solidFill>
                  <a:srgbClr val="6A6A6A"/>
                </a:solidFill>
                <a:latin typeface="Calibri"/>
              </a:rPr>
              <a:t>Max ONE observation per day counts. Monitored monthly, met quarterly. The 24 is measured over the ES-calibration period (≤1 month lag allowed, fn 2).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517904"/>
            <a:ext cx="53949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517904"/>
            <a:ext cx="5394960" cy="45720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1517904"/>
            <a:ext cx="5394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FFFFFF"/>
                </a:solidFill>
                <a:latin typeface="Calibri"/>
              </a:rPr>
              <a:t>CRITERION 2 — VOLUME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103120"/>
            <a:ext cx="499262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7" b="1" i="0">
                <a:solidFill>
                  <a:srgbClr val="C2453C"/>
                </a:solidFill>
                <a:latin typeface="Calibri"/>
              </a:rPr>
              <a:t>≥ 100 real-price observations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76" b="0" i="0">
                <a:solidFill>
                  <a:srgbClr val="1A1A1A"/>
                </a:solidFill>
                <a:latin typeface="Calibri"/>
              </a:rPr>
              <a:t>over the previous 12 months — no density condition.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2" b="0" i="0">
                <a:solidFill>
                  <a:srgbClr val="6A6A6A"/>
                </a:solidFill>
                <a:latin typeface="Calibri"/>
              </a:rPr>
              <a:t>Same one-per-day cap. The escape route for factors that trade in bursts (e.g. around auctions or rolls) but go quiet in between.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018787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41063"/>
            <a:ext cx="10277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Either passes.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PASS = criterion 1 OR criterion 2 — the workbook shows both columns per factor so you can see which one carried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585715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507991"/>
            <a:ext cx="10277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Any real price counts for every factor it represents.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one 5Y trade can feed the 5Y point, the sector curve, and an index factor simultaneously (31.13 chapeau).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152643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074919"/>
            <a:ext cx="10277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Footnote 3.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you may replace an NMRF by (modellable factor + basis) — the basis is then the NMRF; any modellable+non-modellable combination is non-modellable.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70_rfet_results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1 · THE PHILOSOPHY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05_why_real_prices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§1 — five 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“My quants can generate a P&amp;L series for anything” — true, and precisely the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9562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517904"/>
            <a:ext cx="66659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76" b="1" i="0">
                <a:solidFill>
                  <a:srgbClr val="0E2C4B"/>
                </a:solidFill>
                <a:latin typeface="Calibri"/>
              </a:rPr>
              <a:t>Circularity.  </a:t>
            </a:r>
            <a:r>
              <a:rPr sz="1276" b="0" i="0">
                <a:solidFill>
                  <a:srgbClr val="1A1A1A"/>
                </a:solidFill>
                <a:latin typeface="Calibri"/>
              </a:rPr>
              <a:t>a series from your own interpolator has vol = your smoothing assumption and correlation = your weights; ES then measures the risk of the interpolator. The real price is the only exogenous, falsifying input.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436876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359152"/>
            <a:ext cx="66659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76" b="1" i="0">
                <a:solidFill>
                  <a:srgbClr val="0E2C4B"/>
                </a:solidFill>
                <a:latin typeface="Calibri"/>
              </a:rPr>
              <a:t>Smooth-series pathology.  </a:t>
            </a:r>
            <a:r>
              <a:rPr sz="1276" b="0" i="0">
                <a:solidFill>
                  <a:srgbClr val="1A1A1A"/>
                </a:solidFill>
                <a:latin typeface="Calibri"/>
              </a:rPr>
              <a:t>interpolated marks are calm and over-correlated: XYZ 7Y CDS marked off 5Y–10Y shows ρ≈1 with the 5Y — the model books a hedge that does not exist and a third of the true twist risk.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278124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200400"/>
            <a:ext cx="66659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76" b="1" i="0">
                <a:solidFill>
                  <a:srgbClr val="0E2C4B"/>
                </a:solidFill>
                <a:latin typeface="Calibri"/>
              </a:rPr>
              <a:t>Coordinates ≠ dynamics.  </a:t>
            </a:r>
            <a:r>
              <a:rPr sz="1276" b="0" i="0">
                <a:solidFill>
                  <a:srgbClr val="1A1A1A"/>
                </a:solidFill>
                <a:latin typeface="Calibri"/>
              </a:rPr>
              <a:t>knowing the point (3M, 4Y, ATM) exists is not knowing how it moves. The RFET asks: does the market regularly emit information about this point?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119372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041648"/>
            <a:ext cx="66659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76" b="1" i="0">
                <a:solidFill>
                  <a:srgbClr val="0E2C4B"/>
                </a:solidFill>
                <a:latin typeface="Calibri"/>
              </a:rPr>
              <a:t>What is actually gated.  </a:t>
            </a:r>
            <a:r>
              <a:rPr sz="1276" b="0" i="0">
                <a:solidFill>
                  <a:srgbClr val="1A1A1A"/>
                </a:solidFill>
                <a:latin typeface="Calibri"/>
              </a:rPr>
              <a:t>not modelling — the NMRF stays in RTPL and risk management. What is gated is the CAPITAL CREDIT for your statistics: unverifiable correlations may not shrink the capital number.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960620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882896"/>
            <a:ext cx="66659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76" b="1" i="0">
                <a:solidFill>
                  <a:srgbClr val="0E2C4B"/>
                </a:solidFill>
                <a:latin typeface="Calibri"/>
              </a:rPr>
              <a:t>The two gates.  </a:t>
            </a:r>
            <a:r>
              <a:rPr sz="1276" b="0" i="0">
                <a:solidFill>
                  <a:srgbClr val="1A1A1A"/>
                </a:solidFill>
                <a:latin typeface="Calibri"/>
              </a:rPr>
              <a:t>PLA tests model vs marks (internal consistency); the RFET is the only gate testing marks vs MARKET (external validity). For illiquid points the marks come from the same interpolator — so PLA alone would test nothing.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1554480"/>
            <a:ext cx="3840480" cy="237744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0" y="1554480"/>
            <a:ext cx="3840480" cy="64008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0" y="1719072"/>
            <a:ext cx="3474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60" b="1" i="0">
                <a:solidFill>
                  <a:srgbClr val="C2453C"/>
                </a:solidFill>
                <a:latin typeface="Calibri"/>
              </a:rPr>
              <a:t>THE 2008 MEMORY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18" b="0" i="0">
                <a:solidFill>
                  <a:srgbClr val="1A1A1A"/>
                </a:solidFill>
                <a:latin typeface="Calibri"/>
              </a:rPr>
              <a:t>Super-senior tranches and correlation books had immaculate marked-to-model P&amp;L — smooth, hedged, tiny VaR — right up until someone had to transact.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18" b="0" i="0">
                <a:solidFill>
                  <a:srgbClr val="1A1A1A"/>
                </a:solidFill>
                <a:latin typeface="Calibri"/>
              </a:rPr>
              <a:t>The exit price lived nowhere near the model. The NMRF regime is that lesson written into law.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4114800"/>
            <a:ext cx="3840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4114800"/>
            <a:ext cx="3840480" cy="64008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18704" y="4279392"/>
            <a:ext cx="3547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83" b="1" i="0">
                <a:solidFill>
                  <a:srgbClr val="C2453C"/>
                </a:solidFill>
                <a:latin typeface="Calibri"/>
              </a:rPr>
              <a:t>×3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18704" y="4754880"/>
            <a:ext cx="35478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02" b="1" i="0">
                <a:solidFill>
                  <a:srgbClr val="1A1A1A"/>
                </a:solidFill>
                <a:latin typeface="Calibri"/>
              </a:rPr>
              <a:t>Twist risk understated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18704" y="4892040"/>
            <a:ext cx="3547872" cy="23774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interpolated +2.4bp vs real +8bp — sheet 05 §1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4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Price availability is irrelevant for PRODUCING risk numbers and essential for TRUSTING them — the framework prices the difference between a calibrated distribution and an asserted one, in capital.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05_why_real_prices §1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1 · AFTER THE PASS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05_why_real_prices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§2 — four 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You never throw the prices away — gate, police, evidence; calibration is the one job they lose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54864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54480"/>
            <a:ext cx="82296" cy="196596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82496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60" b="1" i="0">
                <a:solidFill>
                  <a:srgbClr val="2E7D5B"/>
                </a:solidFill>
                <a:latin typeface="Calibri"/>
              </a:rPr>
              <a:t>GATE   </a:t>
            </a:r>
            <a:r>
              <a:rPr sz="1334" b="1" i="0">
                <a:solidFill>
                  <a:srgbClr val="0E2C4B"/>
                </a:solidFill>
                <a:latin typeface="Calibri"/>
              </a:rPr>
              <a:t>Rolling, not one-shot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029968"/>
            <a:ext cx="5029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94" b="0" i="0">
                <a:solidFill>
                  <a:srgbClr val="1A1A1A"/>
                </a:solidFill>
                <a:latin typeface="Calibri"/>
              </a:rPr>
              <a:t>Quarterly re-assessment, monthly monitoring, rolling 12-month window (31.13). A factor that goes quiet flips to NMRF next quarter — the calculator's As-of date mimics exactly this.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54864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82296" cy="196596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1682496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60" b="1" i="0">
                <a:solidFill>
                  <a:srgbClr val="C2453C"/>
                </a:solidFill>
                <a:latin typeface="Calibri"/>
              </a:rPr>
              <a:t>POLICE   </a:t>
            </a:r>
            <a:r>
              <a:rPr sz="1334" b="1" i="0">
                <a:solidFill>
                  <a:srgbClr val="0E2C4B"/>
                </a:solidFill>
                <a:latin typeface="Calibri"/>
              </a:rPr>
              <a:t>The mandated recon — Principle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029968"/>
            <a:ext cx="5029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94" b="0" i="0">
                <a:solidFill>
                  <a:srgbClr val="1A1A1A"/>
                </a:solidFill>
                <a:latin typeface="Calibri"/>
              </a:rPr>
              <a:t>“Periodically reconcile price data used in a risk model with front office and back office prices… comparisons of risk prices with real price observations.” Principles unmet ⇒ 31.23: supervisor pulls the factor from ES despite the RFET pass.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739896"/>
            <a:ext cx="54864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739896"/>
            <a:ext cx="82296" cy="196596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86791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60" b="1" i="0">
                <a:solidFill>
                  <a:srgbClr val="B8862E"/>
                </a:solidFill>
                <a:latin typeface="Calibri"/>
              </a:rPr>
              <a:t>EVIDENCE   </a:t>
            </a:r>
            <a:r>
              <a:rPr sz="1334" b="1" i="0">
                <a:solidFill>
                  <a:srgbClr val="0E2C4B"/>
                </a:solidFill>
                <a:latin typeface="Calibri"/>
              </a:rPr>
              <a:t>Retrievable on demand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215384"/>
            <a:ext cx="5029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94" b="0" i="0">
                <a:solidFill>
                  <a:srgbClr val="1A1A1A"/>
                </a:solidFill>
                <a:latin typeface="Calibri"/>
              </a:rPr>
              <a:t>Vendors must produce transaction evidence to supervisors on request (31.14); mapping policies documented (31.15). The observation archive is part of the model's audit trail.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739896"/>
            <a:ext cx="54864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739896"/>
            <a:ext cx="82296" cy="1965960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386791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60" b="1" i="0">
                <a:solidFill>
                  <a:srgbClr val="355574"/>
                </a:solidFill>
                <a:latin typeface="Calibri"/>
              </a:rPr>
              <a:t>CALIBRATE   </a:t>
            </a:r>
            <a:r>
              <a:rPr sz="1334" b="1" i="0">
                <a:solidFill>
                  <a:srgbClr val="0E2C4B"/>
                </a:solidFill>
                <a:latin typeface="Calibri"/>
              </a:rPr>
              <a:t>The one job they lose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4215384"/>
            <a:ext cx="5029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94" b="0" i="0">
                <a:solidFill>
                  <a:srgbClr val="1A1A1A"/>
                </a:solidFill>
                <a:latin typeface="Calibri"/>
              </a:rPr>
              <a:t>31.22: once passed, the ES model may calibrate on richer data — vendor series, consensus marks. Division of labour, not retirement.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815584"/>
            <a:ext cx="11057839" cy="593994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815584"/>
            <a:ext cx="82296" cy="593994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5815584"/>
            <a:ext cx="10600639" cy="5939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4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The RFET is the entry ticket; the seven data principles are the rent — and the recon exercise (Principle 4) keeps the same real prices in service for as long as the factor lives in 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05_why_real_prices §2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39" b="1" i="0">
                <a:solidFill>
                  <a:srgbClr val="C2453C"/>
                </a:solidFill>
                <a:latin typeface="Calibri"/>
              </a:rPr>
              <a:t>SESSION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46888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3944" b="1" i="0">
                <a:solidFill>
                  <a:srgbClr val="FFFFFF"/>
                </a:solidFill>
                <a:latin typeface="Calibri"/>
              </a:rPr>
              <a:t>The Bucketing Machinery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687445"/>
            <a:ext cx="1554480" cy="3175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91" b="1" i="0">
                <a:solidFill>
                  <a:srgbClr val="9DB4CC"/>
                </a:solidFill>
                <a:latin typeface="Calibri"/>
              </a:rPr>
              <a:t>Excel sheets:  </a:t>
            </a:r>
            <a:r>
              <a:rPr sz="1391" b="0" i="0">
                <a:solidFill>
                  <a:srgbClr val="FFFFFF"/>
                </a:solidFill>
                <a:latin typeface="Calibri"/>
              </a:rPr>
              <a:t>10_decision_map · 20_regulatory_buckets · 30_instrument_coverage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2 · THE PROBLEM BUCKETING SOLVES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10_decision_map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Risk factors are points; trades land BETWEEN points — without buckets almost nothing would pass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9562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517904"/>
            <a:ext cx="65288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The geometry.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most factors are points on a curve (5Y swap), surface (1Y/δ0.5 vol) or cube (swaption expiry × tenor × strike). Real trades rarely hit a model point exactly.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400300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322576"/>
            <a:ext cx="65288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The fix — MAR31.16.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group observations into BUCKETS along the continuous axes; any real price inside a bucket counts toward the factors in it (31.17).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204972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127248"/>
            <a:ext cx="65288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Two regimes.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the bank draws its OWN buckets (one factor per bucket, tied to RTPL), or uses the REGULATORY grid (Table 1, rows A–D) — an election made per curve/surface/cube.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009644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931920"/>
            <a:ext cx="65288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What is never bucketed.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categorical attributes — currency, issuer, index, seniority — must match EXACTLY. There is no ‘nearby’ between EUR and USD; you fix those first, then bucket the axes.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1554480"/>
            <a:ext cx="3977639" cy="306324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1554480"/>
            <a:ext cx="3977639" cy="6400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1700784"/>
            <a:ext cx="3611879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60" b="1" i="0">
                <a:solidFill>
                  <a:srgbClr val="0E2C4B"/>
                </a:solidFill>
                <a:latin typeface="Calibri"/>
              </a:rPr>
              <a:t>SESSION 2 ROADMAP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218" b="0" i="0">
                <a:solidFill>
                  <a:srgbClr val="1A1A1A"/>
                </a:solidFill>
                <a:latin typeface="Calibri"/>
              </a:rPr>
              <a:t>10_decision_map — which row buckets which dimension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218" b="0" i="0">
                <a:solidFill>
                  <a:srgbClr val="1A1A1A"/>
                </a:solidFill>
                <a:latin typeface="Calibri"/>
              </a:rPr>
              <a:t>20_regulatory_buckets — Table 1, verbatim, with live lookup lists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218" b="0" i="0">
                <a:solidFill>
                  <a:srgbClr val="1A1A1A"/>
                </a:solidFill>
                <a:latin typeface="Calibri"/>
              </a:rPr>
              <a:t>30_instrument_coverage — every family mapped, plus the geometry diagram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102" b="0" i="1">
                <a:solidFill>
                  <a:srgbClr val="6A6A6A"/>
                </a:solidFill>
                <a:latin typeface="Calibri"/>
              </a:rPr>
              <a:t>Then Session 3 takes on own-vs-regulatory and the PLA guardrail.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4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A bucket never CREATES a risk factor — the factors are the model's; the bucket only counts trades toward them.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10_decision_map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2 · WHICH ROW APPLIES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10_decision_map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rules (a)–(f)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Six rules assign rows A–D to every dimension of every object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0104120" cy="29571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/>
                <a:gridCol w="4846320"/>
                <a:gridCol w="1371600"/>
                <a:gridCol w="2194560"/>
                <a:gridCol w="1188720"/>
              </a:tblGrid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Risk factor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Object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Maturity/expiry row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Strike row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(a)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IR / FX / commodity — ONE maturity dim (excl. vol)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curve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(b)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IR / FX / commodity — SEVERAL maturity dims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surface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(c)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credit spread &amp; equity — one or several maturity dims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curve/surface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(d)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ANY factor with a strike dimension (delta δ = prob. ITM)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(e)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implied vol, NON-swaption — expiry &amp; strike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surface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 (expiry)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(f)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implied vol, IR SWAPTION — tenor, expiry, strike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cube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B (tenor) + C (expiry)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4631436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553712"/>
            <a:ext cx="103692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The swaption is the only cube.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three dimensions bucketed simultaneously — B × C × 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143500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065776"/>
            <a:ext cx="103692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Vol expiries always use row C.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even for IR/FX/commodity vols — (e) overrides (a)/(b) for the expiry axis.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4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Read the object first (curve / surface / cube), then assign one row per CONTINUOUS dimension — the decision map sheet does it mechanically.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10_decision_map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2 · THE CLASSIC TRAP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10_decision_map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Row A vs B explainer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Row A vs Row B = how many time axes the model keeps LIVE — not what the product is called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0287000" cy="29571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1234440"/>
                <a:gridCol w="640080"/>
                <a:gridCol w="5212080"/>
              </a:tblGrid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Instrument / factor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Time axes live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Vanilla 5Y IRS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one tenor coordinate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FX 1Y outright forward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one maturity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CMS — pay 10Y rate, reset 5y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2453C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2453C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underlying tenor PINNED at 10Y → categorical, only the start varies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3M vs 6M Euribor tenor basis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one maturity + a categorical index pair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Forward-starting swap (2y into 5y)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5B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book spans a RANGE of starts AND tenors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Swaption underlying-tenor axis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part of 3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tenor axis of the cube, per rule (f)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4572000"/>
            <a:ext cx="11057839" cy="87050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572000"/>
            <a:ext cx="82296" cy="87050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572000"/>
            <a:ext cx="10600639" cy="870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4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An axis the PRODUCT holds constant is categorical, not bucketed — the CMS looks like two times but only one varies. Caveat (on the sheet): MAR31.16(2)(b) names no instruments; single-vs-several LIVE time axes is the black-letter rule.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596128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Try it on your own book:  </a:t>
            </a:r>
            <a:r>
              <a:rPr sz="1218" b="0" i="1">
                <a:solidFill>
                  <a:srgbClr val="6A6A6A"/>
                </a:solidFill>
                <a:latin typeface="Calibri"/>
              </a:rPr>
              <a:t>the Example-contract column on 10_decision_map runs this same classification for a full sample of trades — count the LIVE time axes and every position lands in exactly one row.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10_decision_map rows 14–27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2 · THE REGULATORY GRID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20_regulatory_buckets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Table 1 + lookup lists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Table 1 verbatim — every band closed on the left, open on the right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54480"/>
          <a:ext cx="1120140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45" b="1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45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45" b="1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45" b="1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45" b="1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45" b="1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45" b="1">
                          <a:solidFill>
                            <a:srgbClr val="FFFFF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45" b="1">
                          <a:solidFill>
                            <a:srgbClr val="FFFFF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45" b="1">
                          <a:solidFill>
                            <a:srgbClr val="FFFFFF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45" b="1">
                          <a:solidFill>
                            <a:srgbClr val="FFFFFF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946" b="1">
                          <a:solidFill>
                            <a:srgbClr val="1A1A1A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>0 ≤ t &lt; 0.75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>0.75 ≤ t &lt; 1.5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>1.5 ≤ t &lt; 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>4 ≤ t &lt; 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>7 ≤ t &lt; 12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>12 ≤ t &lt; 18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>18 ≤ t &lt; 25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>25 ≤ t &lt; 35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>35 ≤ t &lt; ∞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946" b="1">
                          <a:solidFill>
                            <a:srgbClr val="1A1A1A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>0 ≤ t &lt; 0.75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>0.75 ≤ t &lt; 4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>4 ≤ t &lt; 10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>10 ≤ t &lt; 18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>18 ≤ t &lt; 30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>30 ≤ t &lt; ∞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946" b="1">
                          <a:solidFill>
                            <a:srgbClr val="1A1A1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>0 ≤ t &lt; 1.5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>1.5 ≤ t &lt; 3.5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>3.5 ≤ t &lt; 7.5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>7.5 ≤ t &lt; 15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>15 ≤ t &lt; ∞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946" b="1">
                          <a:solidFill>
                            <a:srgbClr val="1A1A1A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>0 ≤ δ &lt; 0.05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>0.05 ≤ δ &lt; 0.3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>0.3 ≤ δ &lt; 0.7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>0.7 ≤ δ &lt; 0.95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>0.95 ≤ δ &lt; 1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46" b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3717035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639311"/>
            <a:ext cx="104607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Boundary semantics.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a ≤ t &lt; b everywhere: t = 0.75 sits in A-bucket 2, δ = 0.95 in D-bucket 5. the workbook's MATCH lookups against the named ranges (RowA_low…RowD_low) implement exactly this.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320539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242815"/>
            <a:ext cx="104607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Row usage.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A = single-maturity IR/FX/commodity · B = several maturity dims + swaption tenor · C = credit/equity maturity + ALL vol expiries · D = every strike axis, in δ.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924043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846319"/>
            <a:ext cx="104607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The D3 band is deliberately broad.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0.3 ≤ δ &lt; 0.7 hoovers the whole near-ATM region — that width is what makes cube pooling work in Session 4.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20_regulatory_buckets (named ranges RowA_low…RowD_low)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2 · THE FOOTNOTE EVERYONE MISSES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20_regulatory_buckets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footnote-6 note, row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Footnote 6 — market deltas are not regulatory deltas; conversion is mandatory, not optional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9562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517904"/>
            <a:ext cx="67116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Row D's δ is defined.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as the probability the option finishes in-the-money at maturity — a specific mathematical object.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55574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78024"/>
            <a:ext cx="67116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Markets speak their own dialects.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an FX '25Δ' names the option whose HEDGE RATIO is 0.25 — not a 25% chance of finishing ITM (a 1Y 25Δ call at 10% vol carries ≈22%). Worse, the same '25Δ' label maps to DIFFERENT strikes under different FX conventions (delta vs spot or vs forward; premium-adjusted or not), and equity quotes strikes as % of spot — no delta at all.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51586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438144"/>
            <a:ext cx="67116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The rule.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where market-standard moneyness conventions differ, banks SHALL convert the regulatory delta buckets to the market convention using their own approved pricing models.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47598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398264"/>
            <a:ext cx="67116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The practical consequence.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under a regulatory election every strike-axis quote passes through a conversion layer before it can be assigned a D-band; an own election in the native convention avoids it (Session 4, FX smile).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554480"/>
            <a:ext cx="3840480" cy="379476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554480"/>
            <a:ext cx="3840480" cy="64008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1700784"/>
            <a:ext cx="3474720" cy="352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60" b="1" i="0">
                <a:solidFill>
                  <a:srgbClr val="B8862E"/>
                </a:solidFill>
                <a:latin typeface="Calibri"/>
              </a:rPr>
              <a:t>THE MECHANICS — TWO DIFFERENT N(·)'s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18" b="1" i="0">
                <a:solidFill>
                  <a:srgbClr val="0E2C4B"/>
                </a:solidFill>
                <a:latin typeface="Calibri"/>
              </a:rPr>
              <a:t>Regulatory δ = P(finish ITM) = N(d₂)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18" b="1" i="0">
                <a:solidFill>
                  <a:srgbClr val="0E2C4B"/>
                </a:solidFill>
                <a:latin typeface="Calibri"/>
              </a:rPr>
              <a:t>Market Δ = hedge ratio ∂V/∂S = N(d₁)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60" b="0" i="0">
                <a:solidFill>
                  <a:srgbClr val="1A1A1A"/>
                </a:solidFill>
                <a:latin typeface="Calibri"/>
              </a:rPr>
              <a:t>d₂ = d₁ − σ√T, so d₂ is ALWAYS smaller: a call's ITM probability sits below its hedge delta, and the wedge grows with vol and maturity.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60" b="0" i="0">
                <a:solidFill>
                  <a:srgbClr val="1A1A1A"/>
                </a:solidFill>
                <a:latin typeface="Calibri"/>
              </a:rPr>
              <a:t>Worked:  σ 10%, 1y — market 25Δ call: N(d₁) = 0.25 ⇒ d₁ ≈ −0.67, d₂ ≈ −0.77 ⇒ δ = N(d₂) ≈ 0.22.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60" b="0" i="0">
                <a:solidFill>
                  <a:srgbClr val="C2453C"/>
                </a:solidFill>
                <a:latin typeface="Calibri"/>
              </a:rPr>
              <a:t>Band flip on the wing:  σ 30%, 2y — market 5Δ: read naively, δ = 0.05 → band D2; converted, N(d₂) ≈ 0.02 → band D1.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02" b="0" i="1">
                <a:solidFill>
                  <a:srgbClr val="6A6A6A"/>
                </a:solidFill>
                <a:latin typeface="Calibri"/>
              </a:rPr>
              <a:t>Same quote, different band — the conversion is not cosmetic.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4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If your vol desk quotes in 25Δ and your RFET engine buckets raw market deltas as regulatory δ, your D-band assignment is wrong before counting starts.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20_regulatory_buckets row 34 · 90_citations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2 · ONE PICTURE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30_instrument_coverage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diagram + exact-match block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A bucket is the INTERSECTION of one band per axis — and categorical attributes are fixed before you bucket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26464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6" b="1" i="0">
                <a:solidFill>
                  <a:srgbClr val="355574"/>
                </a:solidFill>
                <a:latin typeface="Calibri"/>
              </a:rPr>
              <a:t>EXHIBIT 1</a:t>
            </a:r>
            <a:r>
              <a:rPr sz="986" b="0" i="1">
                <a:solidFill>
                  <a:srgbClr val="6A6A6A"/>
                </a:solidFill>
                <a:latin typeface="Calibri"/>
              </a:rPr>
              <a:t>   Band → rectangle → box (mirrors the workbook diagram)</a:t>
            </a:r>
          </a:p>
        </p:txBody>
      </p:sp>
      <p:pic>
        <p:nvPicPr>
          <p:cNvPr id="9" name="Picture 8" descr="ge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2496"/>
            <a:ext cx="8046720" cy="29356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461772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The risk-factor point (●) must fall inside EVERY band at once — an observation counts only if it lands in the same intersection (31.17).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34" b="0" i="0">
                <a:solidFill>
                  <a:srgbClr val="1A1A1A"/>
                </a:solidFill>
                <a:latin typeface="Calibri"/>
              </a:rPr>
              <a:t>Fix the categorical coordinates FIRST — currency, curve/index, issuer, seniority, commodity grade — they define WHICH factor you are on (a USD 5Y swap is not a ‘nearby’ EUR 5Y swap). Then bucket only the continuous axes: tenor, expiry, strike δ.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4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This geometry belongs to the RISK FACTOR, not to the election: own bucketing draws its own edges but keeps the same band-per-axis structure (31.16(1)(a) forces it).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30_instrument_coverage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2 · EVERY FAMILY AT ONCE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30_instrument_coverage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coverage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One matrix covers every instrument family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64240" cy="334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440"/>
                <a:gridCol w="2377440"/>
                <a:gridCol w="914400"/>
                <a:gridCol w="1600200"/>
                <a:gridCol w="4937760"/>
              </a:tblGrid>
              <a:tr h="372160">
                <a:tc>
                  <a:txBody>
                    <a:bodyPr wrap="square"/>
                    <a:lstStyle/>
                    <a:p>
                      <a:pPr algn="l"/>
                      <a:r>
                        <a:rPr sz="1045" b="1">
                          <a:solidFill>
                            <a:srgbClr val="FFFFFF"/>
                          </a:solidFill>
                          <a:latin typeface="Calibri"/>
                        </a:rPr>
                        <a:t>Risk class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1">
                          <a:solidFill>
                            <a:srgbClr val="FFFFFF"/>
                          </a:solidFill>
                          <a:latin typeface="Calibri"/>
                        </a:rPr>
                        <a:t>Object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1">
                          <a:solidFill>
                            <a:srgbClr val="FFFFFF"/>
                          </a:solidFill>
                          <a:latin typeface="Calibri"/>
                        </a:rPr>
                        <a:t>Axes → rows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1">
                          <a:solidFill>
                            <a:srgbClr val="FFFFFF"/>
                          </a:solidFill>
                          <a:latin typeface="Calibri"/>
                        </a:rPr>
                        <a:t>Sample counting rule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372160"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Interest rate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5Y EUR IRS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curve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maturity → 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counts if maturity ∈ 4–7y (A4)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72160"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Interest rate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2Y-into-5Y fwd-starting swap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surface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start, tenor → B×B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start ∈ 0.75–4y AND tenor ∈ 4–10y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72160"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Interest rate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2Y×10Y swaption vol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cube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B × C × 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tenor ∈ 10–18 AND expiry ∈ 1.5–3.5 AND δ ∈ 0.3–0.7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72160"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FX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EURUSD 1Y forward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curve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maturity → A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counts if maturity ∈ 0.75–1.5y (A2)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72160"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FX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EURUSD 3M 25Δ RR vol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surface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C × 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expiry ∈ 0–1.5y AND δ ∈ 0.05–0.3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72160"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Commodity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WTI 6M future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curve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maturity → A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counts if maturity ∈ 0–0.75y (A1)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72160"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Credit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7Y single-name CDS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curve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maturity → C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counts if maturity ∈ 3.5–7.5y (C3)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72160"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Equity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SX5E 1Y δ0.5 vol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surface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C × D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5" b="0">
                          <a:solidFill>
                            <a:srgbClr val="1A1A1A"/>
                          </a:solidFill>
                          <a:latin typeface="Calibri"/>
                        </a:rPr>
                        <a:t>expiry ∈ 0–1.5y AND δ ∈ 0.3–0.7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34924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34924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34924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4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Every counting rule in the last column resolves against the Table-1 bands on 20_regulatory_buckets — the 5Y swap (one band) and the 2Y×10Y swaption (a 3-D box) between them span the whole machinery.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053328"/>
            <a:ext cx="110578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2" b="0" i="1">
                <a:solidFill>
                  <a:srgbClr val="6A6A6A"/>
                </a:solidFill>
                <a:latin typeface="Calibri"/>
              </a:rPr>
              <a:t>Tool notes — the workbook is ILLUSTRATIVE: (1) the B×B second maturity axis is not auto-bucketed (curves, C×D surfaces and the swaption cube are); (2) the 90-day density rule is proxied by a max-drought test — permissive by construction, so a FAIL is final but production reliance on a PASS needs the literal 4-per-window check (noted on 70). Real-life use requires judgement throughout.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30_instrument_coverage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39" b="1" i="0">
                <a:solidFill>
                  <a:srgbClr val="C2453C"/>
                </a:solidFill>
                <a:latin typeface="Calibri"/>
              </a:rPr>
              <a:t>SESSION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46888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3944" b="1" i="0">
                <a:solidFill>
                  <a:srgbClr val="FFFFFF"/>
                </a:solidFill>
                <a:latin typeface="Calibri"/>
              </a:rPr>
              <a:t>Own vs Regulatory &amp; the Guardrail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687445"/>
            <a:ext cx="1554480" cy="3175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91" b="1" i="0">
                <a:solidFill>
                  <a:srgbClr val="9DB4CC"/>
                </a:solidFill>
                <a:latin typeface="Calibri"/>
              </a:rPr>
              <a:t>Excel sheets:  </a:t>
            </a:r>
            <a:r>
              <a:rPr sz="1391" b="0" i="0">
                <a:solidFill>
                  <a:srgbClr val="FFFFFF"/>
                </a:solidFill>
                <a:latin typeface="Calibri"/>
              </a:rPr>
              <a:t>40_own_vs_regulatory · 45_guardrail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3 · THE TWO REGIMES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40_own_vs_regulatory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comparison rows 4–13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Own = your grid, one factor per bucket; regulatory = BCBS's grid, pooling allowed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0972800" cy="3379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4343400"/>
                <a:gridCol w="4343400"/>
              </a:tblGrid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OWN (31.16(1))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REGULATORY (31.16(2))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078" b="0">
                          <a:solidFill>
                            <a:srgbClr val="1A1A1A"/>
                          </a:solidFill>
                          <a:latin typeface="Calibri"/>
                        </a:rPr>
                        <a:t>Who draws the buckets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0">
                          <a:solidFill>
                            <a:srgbClr val="1A1A1A"/>
                          </a:solidFill>
                          <a:latin typeface="Calibri"/>
                        </a:rPr>
                        <a:t>the bank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0">
                          <a:solidFill>
                            <a:srgbClr val="1A1A1A"/>
                          </a:solidFill>
                          <a:latin typeface="Calibri"/>
                        </a:rPr>
                        <a:t>BCBS — Table 1, fixed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078" b="0">
                          <a:solidFill>
                            <a:srgbClr val="1A1A1A"/>
                          </a:solidFill>
                          <a:latin typeface="Calibri"/>
                        </a:rPr>
                        <a:t>Factors per bucket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1">
                          <a:solidFill>
                            <a:srgbClr val="C2453C"/>
                          </a:solidFill>
                          <a:latin typeface="Calibri"/>
                        </a:rPr>
                        <a:t>exactly ONE (31.16(1)(a))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1">
                          <a:solidFill>
                            <a:srgbClr val="2E7D5B"/>
                          </a:solidFill>
                          <a:latin typeface="Calibri"/>
                        </a:rPr>
                        <a:t>may be SEVERAL — obs pool across all (31.17)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078" b="0">
                          <a:solidFill>
                            <a:srgbClr val="1A1A1A"/>
                          </a:solidFill>
                          <a:latin typeface="Calibri"/>
                        </a:rPr>
                        <a:t>Bucket vs RTPL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0">
                          <a:solidFill>
                            <a:srgbClr val="1A1A1A"/>
                          </a:solidFill>
                          <a:latin typeface="Calibri"/>
                        </a:rPr>
                        <a:t>bucket ≡ one RTPL factor (fn 5: same segmentation)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0">
                          <a:solidFill>
                            <a:srgbClr val="1A1A1A"/>
                          </a:solidFill>
                          <a:latin typeface="Calibri"/>
                        </a:rPr>
                        <a:t>bucket only COUNTS; RTPL keeps its own finer grid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078" b="0">
                          <a:solidFill>
                            <a:srgbClr val="1A1A1A"/>
                          </a:solidFill>
                          <a:latin typeface="Calibri"/>
                        </a:rPr>
                        <a:t>Pooling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0">
                          <a:solidFill>
                            <a:srgbClr val="1A1A1A"/>
                          </a:solidFill>
                          <a:latin typeface="Calibri"/>
                        </a:rPr>
                        <a:t>across TENOR SPACE only — a wide bucket over unclaimed tenors (route 4); never another factor's prints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0">
                          <a:solidFill>
                            <a:srgbClr val="1A1A1A"/>
                          </a:solidFill>
                          <a:latin typeface="Calibri"/>
                        </a:rPr>
                        <a:t>across FACTORS too — every print in a band counts for each factor in it (31.17)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078" b="0">
                          <a:solidFill>
                            <a:srgbClr val="1A1A1A"/>
                          </a:solidFill>
                          <a:latin typeface="Calibri"/>
                        </a:rPr>
                        <a:t>PLA effect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0">
                          <a:solidFill>
                            <a:srgbClr val="1A1A1A"/>
                          </a:solidFill>
                          <a:latin typeface="Calibri"/>
                        </a:rPr>
                        <a:t>widening a bucket = coarsening RTPL → PLA risk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0">
                          <a:solidFill>
                            <a:srgbClr val="1A1A1A"/>
                          </a:solidFill>
                          <a:latin typeface="Calibri"/>
                        </a:rPr>
                        <a:t>none — RTPL untouched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078" b="0">
                          <a:solidFill>
                            <a:srgbClr val="1A1A1A"/>
                          </a:solidFill>
                          <a:latin typeface="Calibri"/>
                        </a:rPr>
                        <a:t>Evidence burden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0">
                          <a:solidFill>
                            <a:srgbClr val="1A1A1A"/>
                          </a:solidFill>
                          <a:latin typeface="Calibri"/>
                        </a:rPr>
                        <a:t>cleanest: no borrowed modellability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0">
                          <a:solidFill>
                            <a:srgbClr val="1A1A1A"/>
                          </a:solidFill>
                          <a:latin typeface="Calibri"/>
                        </a:rPr>
                        <a:t>representativeness bill on borrowed prints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078" b="0">
                          <a:solidFill>
                            <a:srgbClr val="1A1A1A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0">
                          <a:solidFill>
                            <a:srgbClr val="1A1A1A"/>
                          </a:solidFill>
                          <a:latin typeface="Calibri"/>
                        </a:rPr>
                        <a:t>liquid pillars; parametric models; coarse models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0">
                          <a:solidFill>
                            <a:srgbClr val="1A1A1A"/>
                          </a:solidFill>
                          <a:latin typeface="Calibri"/>
                        </a:rPr>
                        <a:t>thin/illiquid tenors; sparse surfaces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047488"/>
            <a:ext cx="11057839" cy="819302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047488"/>
            <a:ext cx="82296" cy="819302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047488"/>
            <a:ext cx="10600639" cy="8193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4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An RFET bucket only counts prices; it never sets RTPL. PLA fails when the RTPL GRID is coarse — not because a counting bucket is wide. Keep those two objects separate and the whole chapter simplifies.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40_own_vs_regulatory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3 · WHAT THE RULE ACTUALLY FORBIDS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40_own_vs_regulatory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notes 15–18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31.16(1)(a) blocks one specific free lunch — and footnote 5 names the trade-off that never disappears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9562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517904"/>
            <a:ext cx="66202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The free lunch.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a WIDE self-defined bucket (pool trades → pass the RFET) sitting over a FINE RTPL (pass PLA). Under the own approach each bucket must equal one RTPL factor, so the combination is impossible by construction.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46430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386584"/>
            <a:ext cx="66202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Want CROSS-FACTOR pooling? Use BCBS's grid.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the regulatory election is the sanctioned pooling route — only the grid may pool another pillar's prints — the width is theirs, not yours. Space-capture (route 4) stays open under own.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33298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255264"/>
            <a:ext cx="66202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Footnote 5 verbatim gist.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same buckets/segmentation must serve the PLA test and the RFET; finer buckets help PLA but starve each bucket of prices. The trade-off is INVARIANT — under the regulatory election it relocates from raw counts to representativeness quality.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20166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123944"/>
            <a:ext cx="66202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The pincer (Session 3 preview).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and the SA floor caps own-bucket width from below — next slides.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1554480"/>
            <a:ext cx="38862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26679" y="1554480"/>
            <a:ext cx="3886200" cy="45720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1554480"/>
            <a:ext cx="3886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FFFFFF"/>
                </a:solidFill>
                <a:latin typeface="Calibri"/>
              </a:rPr>
              <a:t>THE THREE OBJECTS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7" y="2139696"/>
            <a:ext cx="3483864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76" b="1" i="0">
                <a:solidFill>
                  <a:srgbClr val="C2453C"/>
                </a:solidFill>
                <a:latin typeface="Calibri"/>
              </a:rPr>
              <a:t>Risk factor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60" b="0" i="0">
                <a:solidFill>
                  <a:srgbClr val="1A1A1A"/>
                </a:solidFill>
                <a:latin typeface="Calibri"/>
              </a:rPr>
              <a:t>a model point the engine reprices — lives in RTPL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76" b="1" i="0">
                <a:solidFill>
                  <a:srgbClr val="355574"/>
                </a:solidFill>
                <a:latin typeface="Calibri"/>
              </a:rPr>
              <a:t>RFET bucket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60" b="0" i="0">
                <a:solidFill>
                  <a:srgbClr val="1A1A1A"/>
                </a:solidFill>
                <a:latin typeface="Calibri"/>
              </a:rPr>
              <a:t>a counting window for real prices — lives in MAR31.16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76" b="1" i="0">
                <a:solidFill>
                  <a:srgbClr val="B8862E"/>
                </a:solidFill>
                <a:latin typeface="Calibri"/>
              </a:rPr>
              <a:t>SA bucket (MAR21)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60" b="0" i="0">
                <a:solidFill>
                  <a:srgbClr val="1A1A1A"/>
                </a:solidFill>
                <a:latin typeface="Calibri"/>
              </a:rPr>
              <a:t>a currency/sector GROUP for aggregation — same word, different world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40_own_vs_regulatory notes · 45_guardrail §0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3 · THE FLOOR UNDER EVERYTHING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45_guardrail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§1–§2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MAR31.3: the model must contain every SA risk factor — so the SA vertex grid caps how coarse own buckets can get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9562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517904"/>
            <a:ext cx="103692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91" b="1" i="0">
                <a:solidFill>
                  <a:srgbClr val="0E2C4B"/>
                </a:solidFill>
                <a:latin typeface="Calibri"/>
              </a:rPr>
              <a:t>The floor.  </a:t>
            </a:r>
            <a:r>
              <a:rPr sz="1391" b="0" i="0">
                <a:solidFill>
                  <a:srgbClr val="1A1A1A"/>
                </a:solidFill>
                <a:latin typeface="Calibri"/>
              </a:rPr>
              <a:t>the IMA model MUST include all standardised-approach risk factors for the class (MAR20–22); omissions need supervisory sign-off (31.3(1)). The RTPL grid therefore contains the SA vertices — and is usually finer.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528316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50592"/>
            <a:ext cx="103692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91" b="1" i="0">
                <a:solidFill>
                  <a:srgbClr val="0E2C4B"/>
                </a:solidFill>
                <a:latin typeface="Calibri"/>
              </a:rPr>
              <a:t>The vertex sets.  </a:t>
            </a:r>
            <a:r>
              <a:rPr sz="1391" b="0" i="0">
                <a:solidFill>
                  <a:srgbClr val="1A1A1A"/>
                </a:solidFill>
                <a:latin typeface="Calibri"/>
              </a:rPr>
              <a:t>GIRR: 0.25 / 0.5 / 1 / 2 / 3 / 5 / 10 / 15 / 20 / 30y (MAR21.8). Credit spread non-sec: 0.5 / 1 / 3 / 5 / 10y (MAR21.9). A 7Y credit factor is a bank-ADDED pillar — the SA grid jumps 5Y → 10Y.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461004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383280"/>
            <a:ext cx="103692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91" b="1" i="0">
                <a:solidFill>
                  <a:srgbClr val="0E2C4B"/>
                </a:solidFill>
                <a:latin typeface="Calibri"/>
              </a:rPr>
              <a:t>The cap on coarseness.  </a:t>
            </a:r>
            <a:r>
              <a:rPr sz="1391" b="0" i="0">
                <a:solidFill>
                  <a:srgbClr val="1A1A1A"/>
                </a:solidFill>
                <a:latin typeface="Calibri"/>
              </a:rPr>
              <a:t>own buckets may absorb bank-added pillars (drop the 7Y, widen the 5Y bucket) but may NEVER span two SA vertices: keep 5Y &amp; 10Y separate and a 5–10Y own bucket holds two RTPL factors (31.16(1)(a) violation); merge them and you breach the floor itself.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846320"/>
            <a:ext cx="11057839" cy="87050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846320"/>
            <a:ext cx="82296" cy="87050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846320"/>
            <a:ext cx="10600639" cy="870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4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Own-bucket width ≡ RTPL factor width, and RTPL bottoms out at the SA vertex grid. Legal coarsening stops at the floor — everything wider needs the supervisor to sign off an SA omission, which a desk with material exposure will not 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45_guardrail §1–2 · 90_citations MAR21 row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3 · THE THIN TENOR PLAYBOOK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45_guardrail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§3 — routes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A thin 7Y: four routes — two honest, one sanctioned, one blocked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18520" cy="3379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4572000"/>
                <a:gridCol w="4343400"/>
              </a:tblGrid>
              <a:tr h="563270">
                <a:tc>
                  <a:txBody>
                    <a:bodyPr wrap="square"/>
                    <a:lstStyle/>
                    <a:p>
                      <a:pPr algn="l"/>
                      <a:r>
                        <a:rPr sz="1155" b="1">
                          <a:solidFill>
                            <a:srgbClr val="FFFFFF"/>
                          </a:solidFill>
                          <a:latin typeface="Calibri"/>
                        </a:rPr>
                        <a:t>Route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5" b="1">
                          <a:solidFill>
                            <a:srgbClr val="FFFFFF"/>
                          </a:solidFill>
                          <a:latin typeface="Calibri"/>
                        </a:rPr>
                        <a:t>What you do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5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56327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1 · Keep fine → NMRF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leave 7Y as its own factor; it fails the RFET on ~12 trades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7D5B"/>
                          </a:solidFill>
                          <a:latin typeface="Calibri"/>
                        </a:rPr>
                        <a:t>HONEST — SES add-on; RTPL fine, PLA fine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56327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2a · Blend 5–10Y (own)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merge 5Y/7Y/10Y into one blended factor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2453C"/>
                          </a:solidFill>
                          <a:latin typeface="Calibri"/>
                        </a:rPr>
                        <a:t>BLOCKED ex ante — swallows SA vertices 5Y &amp; 10Y, breaches the 31.3 floor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56327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2b · Drop the 7Y, interpolate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delete the bank-added 7Y; reprice off 5Y/10Y; widen the 5Y own bucket to absorb 7Y trades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C2453C"/>
                          </a:solidFill>
                          <a:latin typeface="Calibri"/>
                        </a:rPr>
                        <a:t>LEGAL — passes RFET, but coarse RTPL → fails PLA (next slide)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56327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3 · Regulatory pooling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elect the BCBS grid; the 3.5–7.5y band pools the 7Y's trades with the 5Y's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5B"/>
                          </a:solidFill>
                          <a:latin typeface="Calibri"/>
                        </a:rPr>
                        <a:t>PASSES RFET, RTPL keeps 5Y &amp; 7Y separate → PLA safe — the sanctioned escape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56327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4 · Own-capture (no-man's-land)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draw the 7Y's OWN bucket around active 6Y prints — legal because NO 6Y factor exists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7D5B"/>
                          </a:solidFill>
                          <a:latin typeface="Calibri"/>
                        </a:rPr>
                        <a:t>PASSES RFET on captured prints, zero PLA cost — cleanest when liquidity sits between pillars (anatomy slide)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120640"/>
            <a:ext cx="11057839" cy="737372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120640"/>
            <a:ext cx="82296" cy="737372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120640"/>
            <a:ext cx="10600639" cy="7373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4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Route 3 exists precisely so that route 2 never tempts you: pooling without touching the model grid. The RFET bucket counts; RTPL prices; PLA judges RTPL.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45_guardrail §3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3 · WHY ROUTE 2B SELF-DESTRUCTS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45_guardrail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§4–§5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The twist day: the coarse engine cannot see the move it deleted — $336k gap, then the PLA red zone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26464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6" b="1" i="0">
                <a:solidFill>
                  <a:srgbClr val="355574"/>
                </a:solidFill>
                <a:latin typeface="Calibri"/>
              </a:rPr>
              <a:t>EXHIBIT 2</a:t>
            </a:r>
            <a:r>
              <a:rPr sz="986" b="0" i="1">
                <a:solidFill>
                  <a:srgbClr val="6A6A6A"/>
                </a:solidFill>
                <a:latin typeface="Calibri"/>
              </a:rPr>
              <a:t>   Route 2b — $100m 7Y CDS, CS01 $60k/bp; twist +2/+8/+3bp (5Y/7Y/10Y)</a:t>
            </a:r>
          </a:p>
        </p:txBody>
      </p:sp>
      <p:pic>
        <p:nvPicPr>
          <p:cNvPr id="9" name="Picture 8" descr="tw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2496"/>
            <a:ext cx="5852160" cy="324153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812280" y="177850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50024" y="1700784"/>
            <a:ext cx="4562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0E2C4B"/>
                </a:solidFill>
                <a:latin typeface="Calibri"/>
              </a:rPr>
              <a:t>Calm days match.  </a:t>
            </a:r>
            <a:r>
              <a:rPr sz="1218" b="0" i="0">
                <a:solidFill>
                  <a:srgbClr val="1A1A1A"/>
                </a:solidFill>
                <a:latin typeface="Calibri"/>
              </a:rPr>
              <a:t>parallel +5bp: HPL = RTPL = −$300k. The coarseness is invisible — until the curve twists.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12280" y="269290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50024" y="2615184"/>
            <a:ext cx="4562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0E2C4B"/>
                </a:solidFill>
                <a:latin typeface="Calibri"/>
              </a:rPr>
              <a:t>Twist days diverge.  </a:t>
            </a:r>
            <a:r>
              <a:rPr sz="1218" b="0" i="0">
                <a:solidFill>
                  <a:srgbClr val="1A1A1A"/>
                </a:solidFill>
                <a:latin typeface="Calibri"/>
              </a:rPr>
              <a:t>front office reprices the real +8bp (−$480k); the interpolating engine sees +2.4bp (−$144k). It no longer owns a 7Y factor to carry the hump.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2280" y="360730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0024" y="3529584"/>
            <a:ext cx="4562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0E2C4B"/>
                </a:solidFill>
                <a:latin typeface="Calibri"/>
              </a:rPr>
              <a:t>The chain.  </a:t>
            </a:r>
            <a:r>
              <a:rPr sz="1218" b="0" i="0">
                <a:solidFill>
                  <a:srgbClr val="1A1A1A"/>
                </a:solidFill>
                <a:latin typeface="Calibri"/>
              </a:rPr>
              <a:t>gaps repeat on every twist → Spearman ↓ (0.95 → 0.72, amber-side) and KS &gt; 0.12 (red on its own; MAR32.42) → desk in the PLA RED zone → loses IMA → whole desk to SA (MAR32.43).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2280" y="452170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0024" y="4443984"/>
            <a:ext cx="4562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0E2C4B"/>
                </a:solidFill>
                <a:latin typeface="Calibri"/>
              </a:rPr>
              <a:t>The irony.  </a:t>
            </a:r>
            <a:r>
              <a:rPr sz="1218" b="0" i="0">
                <a:solidFill>
                  <a:srgbClr val="1A1A1A"/>
                </a:solidFill>
                <a:latin typeface="Calibri"/>
              </a:rPr>
              <a:t>the capital jump from losing IMA dwarfs the NMRF add-on the desk tried to dodge.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45_guardrail §4–5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3 · WHO ELECTS WHAT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40_own_vs_regulatory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election table rows 22–37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The election is per curve / surface / cube — same product, opposite elections is normal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18520" cy="3379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5960"/>
                <a:gridCol w="2286000"/>
                <a:gridCol w="1965960"/>
                <a:gridCol w="4800600"/>
              </a:tblGrid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078" b="1">
                          <a:solidFill>
                            <a:srgbClr val="FFFFFF"/>
                          </a:solidFill>
                          <a:latin typeface="Calibri"/>
                        </a:rPr>
                        <a:t>Object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1">
                          <a:solidFill>
                            <a:srgbClr val="FFFFFF"/>
                          </a:solidFill>
                          <a:latin typeface="Calibri"/>
                        </a:rPr>
                        <a:t>Profile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1">
                          <a:solidFill>
                            <a:srgbClr val="FFFFFF"/>
                          </a:solidFill>
                          <a:latin typeface="Calibri"/>
                        </a:rPr>
                        <a:t>Election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EUR swap curve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all pillars liquid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1">
                          <a:solidFill>
                            <a:srgbClr val="0E2C4B"/>
                          </a:solidFill>
                          <a:latin typeface="Calibri"/>
                        </a:rPr>
                        <a:t>OWN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each pillar on its own trades — cleanest evidence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HUF swap curve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only 2/5/10Y trade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1">
                          <a:solidFill>
                            <a:srgbClr val="2E7D5B"/>
                          </a:solidFill>
                          <a:latin typeface="Calibri"/>
                        </a:rPr>
                        <a:t>REGULATORY (A)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thin tenors pool inside A-bands — same product, opposite election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ACME CDS curve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7Y thin (~12 prints)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1">
                          <a:solidFill>
                            <a:srgbClr val="2E7D5B"/>
                          </a:solidFill>
                          <a:latin typeface="Calibri"/>
                        </a:rPr>
                        <a:t>REGULATORY (C)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3.5–7.5y band pools 5Y+7Y — route 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DEF CDS curve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index name, quoted daily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1">
                          <a:solidFill>
                            <a:srgbClr val="0E2C4B"/>
                          </a:solidFill>
                          <a:latin typeface="Calibri"/>
                        </a:rPr>
                        <a:t>OWN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nothing borrowed, nothing to defend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EUR swaption cube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benchmarks daily, wings sparse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1">
                          <a:solidFill>
                            <a:srgbClr val="2E7D5B"/>
                          </a:solidFill>
                          <a:latin typeface="Calibri"/>
                        </a:rPr>
                        <a:t>REGULATORY (B×C×D)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off-benchmark points ride the boxes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EURUSD vol surface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3-param smile, liquid pillars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1">
                          <a:solidFill>
                            <a:srgbClr val="0E2C4B"/>
                          </a:solidFill>
                          <a:latin typeface="Calibri"/>
                        </a:rPr>
                        <a:t>OWN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buckets ≡ ATM/RR/BF factors (31.19); no fn6 conversion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USDTRY vol surface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patchy quotes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1">
                          <a:solidFill>
                            <a:srgbClr val="2E7D5B"/>
                          </a:solidFill>
                          <a:latin typeface="Calibri"/>
                        </a:rPr>
                        <a:t>REGULATORY (C×D)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sparse strikes/expiries pool — same product, opposite election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029200"/>
            <a:ext cx="11057839" cy="819302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029200"/>
            <a:ext cx="82296" cy="819302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029200"/>
            <a:ext cx="10600639" cy="8193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4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Within one object mixing has NO payoff: under a regulatory election the liquid points still pass on their own prints; the thin points get the pooling. The election picks the dominant regime per object — never per trade.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40_own_vs_regulatory rows 22–37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3 · ONE ELECTION, DISSECTED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40_own_vs_regulatory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anatomy rows 39-48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The HUF curve tenor by tenor — a passing factor cannot pass harder, so never split an object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18520" cy="3379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2651760"/>
                <a:gridCol w="2286000"/>
                <a:gridCol w="4160520"/>
              </a:tblGrid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078" b="1">
                          <a:solidFill>
                            <a:srgbClr val="FFFFFF"/>
                          </a:solidFill>
                          <a:latin typeface="Calibri"/>
                        </a:rPr>
                        <a:t>Tenor (liquidity)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1">
                          <a:solidFill>
                            <a:srgbClr val="FFFFFF"/>
                          </a:solidFill>
                          <a:latin typeface="Calibri"/>
                        </a:rPr>
                        <a:t>Row-A band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1">
                          <a:solidFill>
                            <a:srgbClr val="FFFFFF"/>
                          </a:solidFill>
                          <a:latin typeface="Calibri"/>
                        </a:rPr>
                        <a:t>Liquid neighbour in band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1">
                          <a:solidFill>
                            <a:srgbClr val="FFFFFF"/>
                          </a:solidFill>
                          <a:latin typeface="Calibri"/>
                        </a:rPr>
                        <a:t>Verdict — whole-curve REGULATORY election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2Y — liquid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1.5-4y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— (itself)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2E7D5B"/>
                          </a:solidFill>
                          <a:latin typeface="Calibri"/>
                        </a:rPr>
                        <a:t>passes on its OWN prints — exactly what own bucketing would give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3Y — sporadic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1.5-4y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the 2Y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2E7D5B"/>
                          </a:solidFill>
                          <a:latin typeface="Calibri"/>
                        </a:rPr>
                        <a:t>borrows the 2Y's prints → passes (31.17)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5Y — liquid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4-7y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— (itself)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2E7D5B"/>
                          </a:solidFill>
                          <a:latin typeface="Calibri"/>
                        </a:rPr>
                        <a:t>passes on its own prints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6Y — sporadic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4-7y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the 5Y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2E7D5B"/>
                          </a:solidFill>
                          <a:latin typeface="Calibri"/>
                        </a:rPr>
                        <a:t>borrows → passes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7Y — sporadic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1">
                          <a:solidFill>
                            <a:srgbClr val="1A1A1A"/>
                          </a:solidFill>
                          <a:latin typeface="Calibri"/>
                        </a:rPr>
                        <a:t>7-12y — NOT in 4-7y (bands closed-left, open-right)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the 10Y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2E7D5B"/>
                          </a:solidFill>
                          <a:latin typeface="Calibri"/>
                        </a:rPr>
                        <a:t>borrows the 10Y's prints → passes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10Y — liquid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7-12y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— (itself)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2E7D5B"/>
                          </a:solidFill>
                          <a:latin typeface="Calibri"/>
                        </a:rPr>
                        <a:t>passes on its own prints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15Y — sporadic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12-18y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1">
                          <a:solidFill>
                            <a:srgbClr val="C2453C"/>
                          </a:solidFill>
                          <a:latin typeface="Calibri"/>
                        </a:rPr>
                        <a:t>NONE — no liquid occupant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1">
                          <a:solidFill>
                            <a:srgbClr val="C2453C"/>
                          </a:solidFill>
                          <a:latin typeface="Calibri"/>
                        </a:rPr>
                        <a:t>STILL FAILS → NMRF: pooling never crosses a band boundary — the subsidy's hard edge, same as the swaption wings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138928"/>
            <a:ext cx="11057839" cy="972921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138928"/>
            <a:ext cx="82296" cy="972921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138928"/>
            <a:ext cx="10600639" cy="97292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4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Register rule — ask from WHERE you borrow: another FACTOR's pillars (3Y ← 2Y) → only the regulatory grid pools across factors → REGULATORY. Unclaimed tenor space (a thin 7Y drawing its own bucket [6y, 7.5y) around plentiful 6Y prints, where NO factor lives) → OWN captures it: one factor in the bucket, zero PLA cost, a one-year representativeness reach. No borrowing at all → OWN. (Route 4 worked on the workbook: 40 rows 50–52.)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40_own_vs_regulatory rows 39-48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3 · GOVERNANCE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40_own_vs_regulatory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documentation map rows 54–55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Where the election lives — five artefacts a supervisor will ask for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11057839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82296" cy="786384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10600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1 · Modellability / RFET policy.  </a:t>
            </a:r>
            <a:r>
              <a:rPr sz="1218" b="0" i="0">
                <a:solidFill>
                  <a:srgbClr val="1A1A1A"/>
                </a:solidFill>
                <a:latin typeface="Calibri"/>
              </a:rPr>
              <a:t>the 31.15 policy set: election criteria, representativeness and mapping rules. Owner: Market Risk Methodology; approved through model governance.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468880"/>
            <a:ext cx="11057839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468880"/>
            <a:ext cx="82296" cy="7863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542032"/>
            <a:ext cx="10600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2 · The election register.  </a:t>
            </a:r>
            <a:r>
              <a:rPr sz="1218" b="0" i="0">
                <a:solidFill>
                  <a:srgbClr val="1A1A1A"/>
                </a:solidFill>
                <a:latin typeface="Calibri"/>
              </a:rPr>
              <a:t>every curve/surface/cube with its election, rationale, review date — the workbook's election table is a template for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364992"/>
            <a:ext cx="11057839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364992"/>
            <a:ext cx="82296" cy="786384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38144"/>
            <a:ext cx="10600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3 · The IMA permission file.  </a:t>
            </a:r>
            <a:r>
              <a:rPr sz="1218" b="0" i="0">
                <a:solidFill>
                  <a:srgbClr val="1A1A1A"/>
                </a:solidFill>
                <a:latin typeface="Calibri"/>
              </a:rPr>
              <a:t>EU: CRR Art. 325az application; methodology per the RTS under Art. 325be (Delegated Regulation 2022/2060, Art. 5(1): election ‘for each curve, surface or cube’).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261104"/>
            <a:ext cx="11057839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261104"/>
            <a:ext cx="82296" cy="786384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334256"/>
            <a:ext cx="10600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4 · Model change framework.  </a:t>
            </a:r>
            <a:r>
              <a:rPr sz="1218" b="0" i="0">
                <a:solidFill>
                  <a:srgbClr val="1A1A1A"/>
                </a:solidFill>
                <a:latin typeface="Calibri"/>
              </a:rPr>
              <a:t>switching an election changes RFET outcomes — documented change, validation review, supervisor notification where material. Never a quarterly convenience.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157216"/>
            <a:ext cx="11057839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157216"/>
            <a:ext cx="82296" cy="78638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30368"/>
            <a:ext cx="10600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5 · Validation, audit &amp; the quarterly RFET pack.  </a:t>
            </a:r>
            <a:r>
              <a:rPr sz="1218" b="0" i="0">
                <a:solidFill>
                  <a:srgbClr val="1A1A1A"/>
                </a:solidFill>
                <a:latin typeface="Calibri"/>
              </a:rPr>
              <a:t>both reference the register; the quarterly results are the register's heartbeat.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40_own_vs_regulatory rows 54–55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39" b="1" i="0">
                <a:solidFill>
                  <a:srgbClr val="C2453C"/>
                </a:solidFill>
                <a:latin typeface="Calibri"/>
              </a:rPr>
              <a:t>SESSION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46888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3944" b="1" i="0">
                <a:solidFill>
                  <a:srgbClr val="FFFFFF"/>
                </a:solidFill>
                <a:latin typeface="Calibri"/>
              </a:rPr>
              <a:t>Special Cases &amp; the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687445"/>
            <a:ext cx="1554480" cy="3175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91" b="1" i="0">
                <a:solidFill>
                  <a:srgbClr val="9DB4CC"/>
                </a:solidFill>
                <a:latin typeface="Calibri"/>
              </a:rPr>
              <a:t>Excel sheets:  </a:t>
            </a:r>
            <a:r>
              <a:rPr sz="1391" b="0" i="0">
                <a:solidFill>
                  <a:srgbClr val="FFFFFF"/>
                </a:solidFill>
                <a:latin typeface="Calibri"/>
              </a:rPr>
              <a:t>50_special_cases · 55_systematic_proxy_nmrf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4 · 31.17, BOTH SENTENCES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50_special_cases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rows 21–30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Pooling is a subsidy with a bill attached — every borrowed print must be REPRESENTATIVE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2E7D5B"/>
                </a:solidFill>
                <a:latin typeface="Calibri"/>
              </a:rPr>
              <a:t>Sentence 1 (the subsidy):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all prices in a bucket count toward EVERY factor in it — 40 ACME 5Y prints + 12 at 7Y = 52 obs for both factors.   </a:t>
            </a:r>
            <a:r>
              <a:rPr sz="1334" b="1" i="0">
                <a:solidFill>
                  <a:srgbClr val="C2453C"/>
                </a:solidFill>
                <a:latin typeface="Calibri"/>
              </a:rPr>
              <a:t>Sentence 2 (the bill):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each print must be representative of the factors it counts for — extractable value, documented mapping (31.15).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331720"/>
          <a:ext cx="11018520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/>
                <a:gridCol w="5486400"/>
                <a:gridCol w="251460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Candidate print (3.5–7.5y band)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Representative of ACME 7Y?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Counts?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78" b="0">
                          <a:solidFill>
                            <a:srgbClr val="1A1A1A"/>
                          </a:solidFill>
                          <a:latin typeface="Calibri"/>
                        </a:rPr>
                        <a:t>ACME 5Y CDS trade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0">
                          <a:solidFill>
                            <a:srgbClr val="1A1A1A"/>
                          </a:solidFill>
                          <a:latin typeface="Calibri"/>
                        </a:rPr>
                        <a:t>YES — same name/seniority/doc; curve extracts 7Y from 5Y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1">
                          <a:solidFill>
                            <a:srgbClr val="2E7D5B"/>
                          </a:solidFill>
                          <a:latin typeface="Calibri"/>
                        </a:rPr>
                        <a:t>✓ the legitimate borrow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78" b="0">
                          <a:solidFill>
                            <a:srgbClr val="1A1A1A"/>
                          </a:solidFill>
                          <a:latin typeface="Calibri"/>
                        </a:rPr>
                        <a:t>DEF Corp 5Y CDS trade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0">
                          <a:solidFill>
                            <a:srgbClr val="1A1A1A"/>
                          </a:solidFill>
                          <a:latin typeface="Calibri"/>
                        </a:rPr>
                        <a:t>NO — different issuer = different factor; tenor was never the only coordinate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1">
                          <a:solidFill>
                            <a:srgbClr val="C2453C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78" b="0">
                          <a:solidFill>
                            <a:srgbClr val="1A1A1A"/>
                          </a:solidFill>
                          <a:latin typeface="Calibri"/>
                        </a:rPr>
                        <a:t>iTraxx Europe 5Y index trade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0">
                          <a:solidFill>
                            <a:srgbClr val="1A1A1A"/>
                          </a:solidFill>
                          <a:latin typeface="Calibri"/>
                        </a:rPr>
                        <a:t>only of the SYSTEMATIC sector factor (31.20)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0">
                          <a:solidFill>
                            <a:srgbClr val="B8862E"/>
                          </a:solidFill>
                          <a:latin typeface="Calibri"/>
                        </a:rPr>
                        <a:t>✗ for ACME (✓ for the sector curve)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78" b="0">
                          <a:solidFill>
                            <a:srgbClr val="1A1A1A"/>
                          </a:solidFill>
                          <a:latin typeface="Calibri"/>
                        </a:rPr>
                        <a:t>ACME 3.6y trade → 7.4y factor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0">
                          <a:solidFill>
                            <a:srgbClr val="1A1A1A"/>
                          </a:solidFill>
                          <a:latin typeface="Calibri"/>
                        </a:rPr>
                        <a:t>STRETCH — thin extraction claim; supervisor may challenge; 31.23 backstop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0">
                          <a:solidFill>
                            <a:srgbClr val="B8862E"/>
                          </a:solidFill>
                          <a:latin typeface="Calibri"/>
                        </a:rPr>
                        <a:t>✓ only if defended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5029200"/>
            <a:ext cx="11057839" cy="839784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029200"/>
            <a:ext cx="82296" cy="839784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029200"/>
            <a:ext cx="10600639" cy="839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4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Pooling converts a COUNTING problem into an EVIDENCE problem — the marginal prints that lift you over 24 are exactly the ones resting on an argument, not identity. Under own bucketing sentence 2 barely arises: nothing is borrowed.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50_special_cases rows 21–30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4 · TWO MAINTENANCE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50_special_cases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maintenance table rows 5–9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31.18 lets observations age gracefully; 31.19 moves the test to the calibration inputs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54864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54480"/>
            <a:ext cx="5486400" cy="457200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FFFFFF"/>
                </a:solidFill>
                <a:latin typeface="Calibri"/>
              </a:rPr>
              <a:t>31.18 — AGEING / ROLL-DOWN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139696"/>
            <a:ext cx="5084064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2" b="0" i="0">
                <a:solidFill>
                  <a:srgbClr val="1A1A1A"/>
                </a:solidFill>
                <a:latin typeface="Calibri"/>
              </a:rPr>
              <a:t>Observations usually STAY in the maturity bucket they were allocated to, even as the instrument rolls down the curve.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2" b="0" i="0">
                <a:solidFill>
                  <a:srgbClr val="1A1A1A"/>
                </a:solidFill>
                <a:latin typeface="Calibri"/>
              </a:rPr>
              <a:t>When a credit-spread point is no longer modelled, its prices may move to the adjacent SHORTER bucket (fn 7: a 4Y bond observed at issuance 8 months ago → the 1.5–3.5y bucket).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2" b="1" i="0">
                <a:solidFill>
                  <a:srgbClr val="C2453C"/>
                </a:solidFill>
                <a:latin typeface="Calibri"/>
              </a:rPr>
              <a:t>Hard rule: each price counts in ONE maturity bucket only — no double-counting.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54864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5486400" cy="45720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55448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FFFFFF"/>
                </a:solidFill>
                <a:latin typeface="Calibri"/>
              </a:rPr>
              <a:t>31.19 — PARAMETRIC CURVES &amp; SURFACES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139696"/>
            <a:ext cx="5084064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2" b="0" i="0">
                <a:solidFill>
                  <a:srgbClr val="1A1A1A"/>
                </a:solidFill>
                <a:latin typeface="Calibri"/>
              </a:rPr>
              <a:t>If the risk factors are PARAMETERS of a functional form (SABR β, Nelson-Siegel, the FX smile's ATM/RR/BF), the RFET is passed on the MARKET DATA used to calibrate them.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2" b="0" i="0">
                <a:solidFill>
                  <a:srgbClr val="1A1A1A"/>
                </a:solidFill>
                <a:latin typeface="Calibri"/>
              </a:rPr>
              <a:t>You cannot observe ‘the SABR β’ in the market — so test the inputs.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2" b="0" i="1">
                <a:solidFill>
                  <a:srgbClr val="6A6A6A"/>
                </a:solidFill>
                <a:latin typeface="Calibri"/>
              </a:rPr>
              <a:t>FX is the friendly case: the calibration inputs are themselves committed broker quotes (Session 4, FX smile slide).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89204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89204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89204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4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Both rules answer the same audit question — ‘where exactly is each observation counted, and why there?’ — one in time, one in model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50_special_cases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4 · 31.17 IN THREE DIMENSIONS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50_special_cases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cube walkthrough rows 32–39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The swaption cube: benchmark liquidity carries the boxes — but pooling never crosses a band boundary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26464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6" b="1" i="0">
                <a:solidFill>
                  <a:srgbClr val="355574"/>
                </a:solidFill>
                <a:latin typeface="Calibri"/>
              </a:rPr>
              <a:t>EXHIBIT 3</a:t>
            </a:r>
            <a:r>
              <a:rPr sz="986" b="0" i="1">
                <a:solidFill>
                  <a:srgbClr val="6A6A6A"/>
                </a:solidFill>
                <a:latin typeface="Calibri"/>
              </a:rPr>
              <a:t>   Strike axis of the cube — who gets to borrow the daily ATM prints</a:t>
            </a:r>
          </a:p>
        </p:txBody>
      </p:sp>
      <p:pic>
        <p:nvPicPr>
          <p:cNvPr id="9" name="Picture 8" descr="cube_w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2496"/>
            <a:ext cx="7955279" cy="243062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66928" y="447598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398264"/>
            <a:ext cx="105521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0E2C4B"/>
                </a:solidFill>
                <a:latin typeface="Calibri"/>
              </a:rPr>
              <a:t>What prints daily.  </a:t>
            </a:r>
            <a:r>
              <a:rPr sz="1218" b="0" i="0">
                <a:solidFill>
                  <a:srgbClr val="1A1A1A"/>
                </a:solidFill>
                <a:latin typeface="Calibri"/>
              </a:rPr>
              <a:t>benchmark expiry×tenor ATM quotes (1Y×10Y, 2Y×10Y, 5Y×5Y…) — each one an observation at (expiry, tenor, δ≈0.5).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042916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965192"/>
            <a:ext cx="105521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0E2C4B"/>
                </a:solidFill>
                <a:latin typeface="Calibri"/>
              </a:rPr>
              <a:t>Who it helps.  </a:t>
            </a:r>
            <a:r>
              <a:rPr sz="1218" b="0" i="0">
                <a:solidFill>
                  <a:srgbClr val="1A1A1A"/>
                </a:solidFill>
                <a:latin typeface="Calibri"/>
              </a:rPr>
              <a:t>off-benchmark points sharing the FULL 3-D box: (2.5Y, 12Y, δ0.60) sits in C2×B4×D3 with the 2Y×10Y benchmark → ~250 prints/yr → modellable.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609844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532120"/>
            <a:ext cx="105521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0E2C4B"/>
                </a:solidFill>
                <a:latin typeface="Calibri"/>
              </a:rPr>
              <a:t>Who it cannot help.  </a:t>
            </a:r>
            <a:r>
              <a:rPr sz="1218" b="0" i="0">
                <a:solidFill>
                  <a:srgbClr val="1A1A1A"/>
                </a:solidFill>
                <a:latin typeface="Calibri"/>
              </a:rPr>
              <a:t>the δ0.85 wing lives in D4 — ATM prints count for NOTHING there; without real OTM/collar flow it stays NMRF. Deep wings (D1/D5) are the classic residual NMRFs.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50_special_cases rows 32–39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4 · 31.19 WORKED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50_special_cases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FX smile rows 41–48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The FX smile in three parameters — own buckets ≡ the parameter factors, RFET on the quotes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9144000" cy="2414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4206240"/>
                <a:gridCol w="219456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Quoted instrument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Smile role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1Y EURUSD (illustrative)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ATM straddle vol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7.0%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25Δ risk reversal (RR)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SKEW — vol(25Δ call) − vol(25Δ put)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−0.8%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25Δ butterfly (BF)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CURVATURE — avg(wings) − ATM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+0.25%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→ reconstructed 25Δ put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ATM + BF − RR/2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7.65%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→ reconstructed 25Δ call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ATM + BF + RR/2 − RR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6.85%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411022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032504"/>
            <a:ext cx="104607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83" b="1" i="0">
                <a:solidFill>
                  <a:srgbClr val="0E2C4B"/>
                </a:solidFill>
                <a:latin typeface="Calibri"/>
              </a:rPr>
              <a:t>The model stores 3 parameters per expiry pillar.  </a:t>
            </a:r>
            <a:r>
              <a:rPr sz="1183" b="0" i="0">
                <a:solidFill>
                  <a:srgbClr val="1A1A1A"/>
                </a:solidFill>
                <a:latin typeface="Calibri"/>
              </a:rPr>
              <a:t>ATM/RR/BF — not a strike grid. Those ARE the RTPL factors (31.19: test the calibration quotes, which here are committed broker quotes).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677156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599432"/>
            <a:ext cx="104607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83" b="1" i="0">
                <a:solidFill>
                  <a:srgbClr val="0E2C4B"/>
                </a:solidFill>
                <a:latin typeface="Calibri"/>
              </a:rPr>
              <a:t>Why OWN.  </a:t>
            </a:r>
            <a:r>
              <a:rPr sz="1183" b="0" i="0">
                <a:solidFill>
                  <a:srgbClr val="1A1A1A"/>
                </a:solidFill>
                <a:latin typeface="Calibri"/>
              </a:rPr>
              <a:t>one factor per bucket is trivially satisfiable — draw strike ranges matching each parameter; pillars are deeply liquid, so every bucket eats its own quotes.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244084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5166360"/>
            <a:ext cx="104607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83" b="1" i="0">
                <a:solidFill>
                  <a:srgbClr val="0E2C4B"/>
                </a:solidFill>
                <a:latin typeface="Calibri"/>
              </a:rPr>
              <a:t>Why not regulatory.  </a:t>
            </a:r>
            <a:r>
              <a:rPr sz="1183" b="0" i="0">
                <a:solidFill>
                  <a:srgbClr val="1A1A1A"/>
                </a:solidFill>
                <a:latin typeface="Calibri"/>
              </a:rPr>
              <a:t>row-D bands don't map to ATM/RR/BF, the desk needs no pooling, and the fn6 market-Δ → regulatory-δ conversion is avoided entirely.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852160"/>
            <a:ext cx="11057839" cy="56327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852160"/>
            <a:ext cx="82296" cy="56327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852160"/>
            <a:ext cx="10600639" cy="5632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4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Mirror image of the cube: sparse off-benchmark points → elect regulatory for the subsidy; liquid parametric pillars → elect own and skip the overhead.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50_special_cases rows 41–48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4 · 31.20 / 31.21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50_special_cases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rows 11–19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Systematic factors ride the index; the idiosyncratic residual pays its own way or goes NMRF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9562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517904"/>
            <a:ext cx="66202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The permission (31.20).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market/region/sector factors are modellable on index and constituent trades — IF they share the factor's attributes (region, quality, sector).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41858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340864"/>
            <a:ext cx="66202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The limit.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the issuer-specific residual is NMRF unless that issuer itself prints ≥24 real prices — no free ride on the index's liquidity.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24154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163824"/>
            <a:ext cx="66202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The maturity axis (31.21).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even a market-wide credit curve gets bucketed on tenor — row C — before its index prints can be counted.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06450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986784"/>
            <a:ext cx="66202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34" b="1" i="0">
                <a:solidFill>
                  <a:srgbClr val="0E2C4B"/>
                </a:solidFill>
                <a:latin typeface="Calibri"/>
              </a:rPr>
              <a:t>Equity analogue.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sector beta factor modellable from the index; the single-stock residual stands alone.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1554480"/>
            <a:ext cx="3931920" cy="292608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80960" y="1554480"/>
            <a:ext cx="3931920" cy="6400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1700784"/>
            <a:ext cx="356616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160" b="1" i="0">
                <a:solidFill>
                  <a:srgbClr val="0E2C4B"/>
                </a:solidFill>
                <a:latin typeface="Calibri"/>
              </a:rPr>
              <a:t>THE DESK PICTURE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76" b="1" i="0">
                <a:solidFill>
                  <a:srgbClr val="1A1A1A"/>
                </a:solidFill>
                <a:latin typeface="Calibri"/>
              </a:rPr>
              <a:t>ACME bond ≈ sector factor + name residual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18" b="0" i="0">
                <a:solidFill>
                  <a:srgbClr val="2E7D5B"/>
                </a:solidFill>
                <a:latin typeface="Calibri"/>
              </a:rPr>
              <a:t>Sector factor: backed by iTraxx / sector index — modellable, into ES.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18" b="0" i="0">
                <a:solidFill>
                  <a:srgbClr val="C2453C"/>
                </a:solidFill>
                <a:latin typeface="Calibri"/>
              </a:rPr>
              <a:t>Residual: ACME prints ~12/yr — NMRF, SES add-on.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102" b="0" i="1">
                <a:solidFill>
                  <a:srgbClr val="6A6A6A"/>
                </a:solidFill>
                <a:latin typeface="Calibri"/>
              </a:rPr>
              <a:t>Session 4's next two slides put NUMBERS on exactly this split.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50_special_cases rows 11–19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4 · THE SPLIT, QUANTIFIED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55_systematic_proxy_nmrf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§1 — credit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β = 1.25, R² = 0.78: decomposing XYZ Corp halves the NMRF bill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0698480" cy="2534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3840480"/>
                <a:gridCol w="2926080"/>
              </a:tblGrid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056" b="0">
                          <a:solidFill>
                            <a:srgbClr val="1A1A1A"/>
                          </a:solidFill>
                          <a:latin typeface="Calibri"/>
                        </a:rPr>
                        <a:t>Regression (2y weekly, vendor marks — 31.22)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6" b="0">
                          <a:solidFill>
                            <a:srgbClr val="1A1A1A"/>
                          </a:solidFill>
                          <a:latin typeface="Calibri"/>
                        </a:rPr>
                        <a:t>Δs_XYZ = 1.25·Δs_SECTOR + ε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6" b="0">
                          <a:solidFill>
                            <a:srgbClr val="1A1A1A"/>
                          </a:solidFill>
                          <a:latin typeface="Calibri"/>
                        </a:rPr>
                        <a:t>OLS; re-estimate ≥ every 2 weeks (P5)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056" b="0">
                          <a:solidFill>
                            <a:srgbClr val="1A1A1A"/>
                          </a:solidFill>
                          <a:latin typeface="Calibri"/>
                        </a:rPr>
                        <a:t>σ weekly — sector / residual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6" b="0">
                          <a:solidFill>
                            <a:srgbClr val="1A1A1A"/>
                          </a:solidFill>
                          <a:latin typeface="Calibri"/>
                        </a:rPr>
                        <a:t>6.0bp / 4.0bp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6" b="0">
                          <a:solidFill>
                            <a:srgbClr val="1A1A1A"/>
                          </a:solidFill>
                          <a:latin typeface="Calibri"/>
                        </a:rPr>
                        <a:t>sample st.dev. / residuals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056" b="0">
                          <a:solidFill>
                            <a:srgbClr val="1A1A1A"/>
                          </a:solidFill>
                          <a:latin typeface="Calibri"/>
                        </a:rPr>
                        <a:t>R² — variance explained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6" b="0">
                          <a:solidFill>
                            <a:srgbClr val="1A1A1A"/>
                          </a:solidFill>
                          <a:latin typeface="Calibri"/>
                        </a:rPr>
                        <a:t>56.25 / 72.25 ≈ 0.78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6" b="0">
                          <a:solidFill>
                            <a:srgbClr val="1A1A1A"/>
                          </a:solidFill>
                          <a:latin typeface="Calibri"/>
                        </a:rPr>
                        <a:t>must be ‘significant’ (P7a)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056" b="0">
                          <a:solidFill>
                            <a:srgbClr val="1A1A1A"/>
                          </a:solidFill>
                          <a:latin typeface="Calibri"/>
                        </a:rPr>
                        <a:t>Sector factor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6" b="0">
                          <a:solidFill>
                            <a:srgbClr val="2E7D5B"/>
                          </a:solidFill>
                          <a:latin typeface="Calibri"/>
                        </a:rPr>
                        <a:t>MODELLABLE — index trades represent it (31.20)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6" b="0">
                          <a:solidFill>
                            <a:srgbClr val="1A1A1A"/>
                          </a:solidFill>
                          <a:latin typeface="Calibri"/>
                        </a:rPr>
                        <a:t>→ ES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pPr algn="l"/>
                      <a:r>
                        <a:rPr sz="1056" b="0">
                          <a:solidFill>
                            <a:srgbClr val="1A1A1A"/>
                          </a:solidFill>
                          <a:latin typeface="Calibri"/>
                        </a:rPr>
                        <a:t>Residual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6" b="0">
                          <a:solidFill>
                            <a:srgbClr val="C2453C"/>
                          </a:solidFill>
                          <a:latin typeface="Calibri"/>
                        </a:rPr>
                        <a:t>NMRF — XYZ prints 12/yr &lt; 24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6" b="0">
                          <a:solidFill>
                            <a:srgbClr val="1A1A1A"/>
                          </a:solidFill>
                          <a:latin typeface="Calibri"/>
                        </a:rPr>
                        <a:t>→ SES (MAR33.16)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675120" y="3977639"/>
            <a:ext cx="4754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6" b="1" i="0">
                <a:solidFill>
                  <a:srgbClr val="355574"/>
                </a:solidFill>
                <a:latin typeface="Calibri"/>
              </a:rPr>
              <a:t>EXHIBIT 4</a:t>
            </a:r>
            <a:r>
              <a:rPr sz="986" b="0" i="1">
                <a:solidFill>
                  <a:srgbClr val="6A6A6A"/>
                </a:solidFill>
                <a:latin typeface="Calibri"/>
              </a:rPr>
              <a:t>   SES on $10m 5Y (CS01 $4.6k/bp), 40-day LH</a:t>
            </a:r>
          </a:p>
        </p:txBody>
      </p:sp>
      <p:pic>
        <p:nvPicPr>
          <p:cNvPr id="10" name="Picture 9" descr="ses_cr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4206240"/>
            <a:ext cx="4480560" cy="28009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4224528"/>
            <a:ext cx="5852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218" b="1" i="0">
                <a:solidFill>
                  <a:srgbClr val="0E2C4B"/>
                </a:solidFill>
                <a:latin typeface="Calibri"/>
              </a:rPr>
              <a:t>How the stressed moves are built:  </a:t>
            </a:r>
            <a:r>
              <a:rPr sz="1218" b="0" i="0">
                <a:solidFill>
                  <a:srgbClr val="1A1A1A"/>
                </a:solidFill>
                <a:latin typeface="Calibri"/>
              </a:rPr>
              <a:t>weekly σ × √8 weeks × 2.34 (97.5% ES multiplier), σ from the worst 12-month window — whole spread 8.5bp → ≈56bp → $259k; residual 4bp → ≈26bp → $122k.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218" b="0" i="0">
                <a:solidFill>
                  <a:srgbClr val="1A1A1A"/>
                </a:solidFill>
                <a:latin typeface="Calibri"/>
              </a:rPr>
              <a:t>Bonus: idiosyncratic credit NMRFs may aggregate at ZERO correlation across names (33.16(2)) — the decomposition saving compounds across the book.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55_systematic_proxy_nmrf §1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4 · CHOOSING THE SUBSTITUTE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55_systematic_proxy_nmrf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§2 — equity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Proxy selection is a P7 scoring exercise — and the choice is worth €160k on one name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0698480" cy="13277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234440"/>
                <a:gridCol w="1691640"/>
                <a:gridCol w="1051560"/>
                <a:gridCol w="777240"/>
                <a:gridCol w="1463040"/>
                <a:gridCol w="1737360"/>
              </a:tblGrid>
              <a:tr h="442569">
                <a:tc>
                  <a:txBody>
                    <a:bodyPr wrap="square"/>
                    <a:lstStyle/>
                    <a:p>
                      <a:pPr algn="l"/>
                      <a:r>
                        <a:rPr sz="1078" b="1">
                          <a:solidFill>
                            <a:srgbClr val="FFFFFF"/>
                          </a:solidFill>
                          <a:latin typeface="Calibri"/>
                        </a:rPr>
                        <a:t>Candidate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1">
                          <a:solidFill>
                            <a:srgbClr val="FFFFFF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1">
                          <a:solidFill>
                            <a:srgbClr val="FFFFFF"/>
                          </a:solidFill>
                          <a:latin typeface="Calibri"/>
                        </a:rPr>
                        <a:t>Sub-industry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1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1">
                          <a:solidFill>
                            <a:srgbClr val="FFFFFF"/>
                          </a:solidFill>
                          <a:latin typeface="Calibri"/>
                        </a:rPr>
                        <a:t>β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1">
                          <a:solidFill>
                            <a:srgbClr val="FFFFFF"/>
                          </a:solidFill>
                          <a:latin typeface="Calibri"/>
                        </a:rPr>
                        <a:t>ρ (R²)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1">
                          <a:solidFill>
                            <a:srgbClr val="FFFFFF"/>
                          </a:solidFill>
                          <a:latin typeface="Calibri"/>
                        </a:rPr>
                        <a:t>Residual σ/wk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442569">
                <a:tc>
                  <a:txBody>
                    <a:bodyPr wrap="square"/>
                    <a:lstStyle/>
                    <a:p>
                      <a:pPr algn="l"/>
                      <a:r>
                        <a:rPr sz="1056" b="0">
                          <a:solidFill>
                            <a:srgbClr val="1A1A1A"/>
                          </a:solidFill>
                          <a:latin typeface="Calibri"/>
                        </a:rPr>
                        <a:t>STOXX 600 Tech index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6" b="0">
                          <a:solidFill>
                            <a:srgbClr val="1A1A1A"/>
                          </a:solidFill>
                          <a:latin typeface="Calibri"/>
                        </a:rPr>
                        <a:t>Europe ~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6" b="0">
                          <a:solidFill>
                            <a:srgbClr val="1A1A1A"/>
                          </a:solidFill>
                          <a:latin typeface="Calibri"/>
                        </a:rPr>
                        <a:t>Tech ~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6" b="0">
                          <a:solidFill>
                            <a:srgbClr val="1A1A1A"/>
                          </a:solidFill>
                          <a:latin typeface="Calibri"/>
                        </a:rPr>
                        <a:t>large ✗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6" b="0">
                          <a:solidFill>
                            <a:srgbClr val="1A1A1A"/>
                          </a:solidFill>
                          <a:latin typeface="Calibri"/>
                        </a:rPr>
                        <a:t>1.10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6" b="0">
                          <a:solidFill>
                            <a:srgbClr val="1A1A1A"/>
                          </a:solidFill>
                          <a:latin typeface="Calibri"/>
                        </a:rPr>
                        <a:t>0.68 (0.46)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6" b="0">
                          <a:solidFill>
                            <a:srgbClr val="1A1A1A"/>
                          </a:solidFill>
                          <a:latin typeface="Calibri"/>
                        </a:rPr>
                        <a:t>2.9%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42569">
                <a:tc>
                  <a:txBody>
                    <a:bodyPr wrap="square"/>
                    <a:lstStyle/>
                    <a:p>
                      <a:pPr algn="l"/>
                      <a:r>
                        <a:rPr sz="1056" b="1">
                          <a:solidFill>
                            <a:srgbClr val="1A1A1A"/>
                          </a:solidFill>
                          <a:latin typeface="Calibri"/>
                        </a:rPr>
                        <a:t>TechnoSys SE — peer stock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6" b="0">
                          <a:solidFill>
                            <a:srgbClr val="1A1A1A"/>
                          </a:solidFill>
                          <a:latin typeface="Calibri"/>
                        </a:rPr>
                        <a:t>DACH ✓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6" b="0">
                          <a:solidFill>
                            <a:srgbClr val="1A1A1A"/>
                          </a:solidFill>
                          <a:latin typeface="Calibri"/>
                        </a:rPr>
                        <a:t>ind. software ✓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6" b="0">
                          <a:solidFill>
                            <a:srgbClr val="1A1A1A"/>
                          </a:solidFill>
                          <a:latin typeface="Calibri"/>
                        </a:rPr>
                        <a:t>mid ✓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6" b="0">
                          <a:solidFill>
                            <a:srgbClr val="1A1A1A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6" b="1">
                          <a:solidFill>
                            <a:srgbClr val="2E7D5B"/>
                          </a:solidFill>
                          <a:latin typeface="Calibri"/>
                        </a:rPr>
                        <a:t>0.78 (0.61)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6" b="1">
                          <a:solidFill>
                            <a:srgbClr val="2E7D5B"/>
                          </a:solidFill>
                          <a:latin typeface="Calibri"/>
                        </a:rPr>
                        <a:t>2.5%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2926080"/>
            <a:ext cx="5760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76" b="1" i="0">
                <a:solidFill>
                  <a:srgbClr val="C2453C"/>
                </a:solidFill>
                <a:latin typeface="Calibri"/>
              </a:rPr>
              <a:t>P7(b), the RTPL rule:  </a:t>
            </a:r>
            <a:r>
              <a:rPr sz="1276" b="0" i="0">
                <a:solidFill>
                  <a:srgbClr val="1A1A1A"/>
                </a:solidFill>
                <a:latin typeface="Calibri"/>
              </a:rPr>
              <a:t>the PROXY representation (0.95 × TechnoSys) — not NovaTech — goes into RTPL, unless the basis is identified and capitalised (ES if modellable, else NMRF). Only then may RTPL carry proxy+basis or the actual factor.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18" b="0" i="1">
                <a:solidFill>
                  <a:srgbClr val="6A6A6A"/>
                </a:solidFill>
                <a:latin typeface="Calibri"/>
              </a:rPr>
              <a:t>This alignment rule is the single most common remediation for PLA failures on proxied books — the capital mapping and the RTPL mapping must be the SAME mapping.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880360"/>
            <a:ext cx="4754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6" b="1" i="0">
                <a:solidFill>
                  <a:srgbClr val="355574"/>
                </a:solidFill>
                <a:latin typeface="Calibri"/>
              </a:rPr>
              <a:t>EXHIBIT 5</a:t>
            </a:r>
            <a:r>
              <a:rPr sz="986" b="0" i="1">
                <a:solidFill>
                  <a:srgbClr val="6A6A6A"/>
                </a:solidFill>
                <a:latin typeface="Calibri"/>
              </a:rPr>
              <a:t>   Basis NMRF on €8m NovaTech (20-day LH)</a:t>
            </a:r>
          </a:p>
        </p:txBody>
      </p:sp>
      <p:pic>
        <p:nvPicPr>
          <p:cNvPr id="11" name="Picture 10" descr="ses_equ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127248"/>
            <a:ext cx="4251960" cy="217179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66928" y="5760720"/>
            <a:ext cx="11057839" cy="593994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5760720"/>
            <a:ext cx="82296" cy="593994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5760720"/>
            <a:ext cx="10600639" cy="5939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4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A better proxy buys THREE things at once: a smaller basis NMRF, an RTPL that tracks HPL, and a defensible P7 file. Score candidates on attributes + ρ, never on convenience.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55_systematic_proxy_nmrf 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4 · THE MAR33 LOOP-BACK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55_systematic_proxy_nmrf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note + diagram, rows 39-41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The bucket that failed you is the bucket that bills you — bucket-level SES (33.16)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26464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6" b="1" i="0">
                <a:solidFill>
                  <a:srgbClr val="355574"/>
                </a:solidFill>
                <a:latin typeface="Calibri"/>
              </a:rPr>
              <a:t>EXHIBIT 6</a:t>
            </a:r>
            <a:r>
              <a:rPr sz="986" b="0" i="1">
                <a:solidFill>
                  <a:srgbClr val="6A6A6A"/>
                </a:solidFill>
                <a:latin typeface="Calibri"/>
              </a:rPr>
              <a:t>   One bucket, two roles — counting unit (31.16) and charging unit (33.16)</a:t>
            </a:r>
          </a:p>
        </p:txBody>
      </p:sp>
      <p:pic>
        <p:nvPicPr>
          <p:cNvPr id="9" name="Picture 8" descr="bucket_ses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208" y="1682496"/>
            <a:ext cx="8778240" cy="265604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66928" y="493318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855464"/>
            <a:ext cx="105521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60" b="1" i="0">
                <a:solidFill>
                  <a:srgbClr val="0E2C4B"/>
                </a:solidFill>
                <a:latin typeface="Calibri"/>
              </a:rPr>
              <a:t>The default.  </a:t>
            </a:r>
            <a:r>
              <a:rPr sz="1160" b="0" i="0">
                <a:solidFill>
                  <a:srgbClr val="1A1A1A"/>
                </a:solidFill>
                <a:latin typeface="Calibri"/>
              </a:rPr>
              <a:t>each NMRF gets its own calibrated stress SCENARIO — hundreds of separate calibrations on a real book. The stress PERIOD is already common: ONE 12-month window per RISK CLASS (33.16), never per factor or per bucket.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536692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458968"/>
            <a:ext cx="105521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60" b="1" i="0">
                <a:solidFill>
                  <a:srgbClr val="0E2C4B"/>
                </a:solidFill>
                <a:latin typeface="Calibri"/>
              </a:rPr>
              <a:t>The concession.  </a:t>
            </a:r>
            <a:r>
              <a:rPr sz="1160" b="0" i="0">
                <a:solidFill>
                  <a:srgbClr val="1A1A1A"/>
                </a:solidFill>
                <a:latin typeface="Calibri"/>
              </a:rPr>
              <a:t>with approval, ONE joint scenario per MAR31.16 bucket — the SAME buckets that disproved modellability. Consolidating the scenario also implicitly NETS exposures within the bucket (a long-13Y / short-15Y pair offsets, where per-factor scenarios stress both legs adversely) — the geometry that earned the pooling benefit is the only one allowed to earn the netting benefit. It changes how the SES bill is computed, never who owes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55_systematic_proxy_nmrf rows 39-41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39" b="1" i="0">
                <a:solidFill>
                  <a:srgbClr val="C2453C"/>
                </a:solidFill>
                <a:latin typeface="Calibri"/>
              </a:rPr>
              <a:t>SESSION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46888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3944" b="1" i="0">
                <a:solidFill>
                  <a:srgbClr val="FFFFFF"/>
                </a:solidFill>
                <a:latin typeface="Calibri"/>
              </a:rPr>
              <a:t>The Seven Principles, the Live Demo &amp; the Wrap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687445"/>
            <a:ext cx="1554480" cy="3175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91" b="1" i="0">
                <a:solidFill>
                  <a:srgbClr val="9DB4CC"/>
                </a:solidFill>
                <a:latin typeface="Calibri"/>
              </a:rPr>
              <a:t>Excel sheets:  </a:t>
            </a:r>
            <a:r>
              <a:rPr sz="1391" b="0" i="0">
                <a:solidFill>
                  <a:srgbClr val="FFFFFF"/>
                </a:solidFill>
                <a:latin typeface="Calibri"/>
              </a:rPr>
              <a:t>57_seven_principles · 60_calculator · 70_rfet_results · 90_citations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5 · THE RENT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57_seven_principles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Seven data principles — what a factor must keep proving AFTER it passes the RFET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18520" cy="3781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2286000"/>
                <a:gridCol w="5806440"/>
                <a:gridCol w="2468880"/>
              </a:tblGrid>
              <a:tr h="472744">
                <a:tc>
                  <a:txBody>
                    <a:bodyPr wrap="square"/>
                    <a:lstStyle/>
                    <a:p>
                      <a:pPr algn="l"/>
                      <a:r>
                        <a:rPr sz="1078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1">
                          <a:solidFill>
                            <a:srgbClr val="FFFFFF"/>
                          </a:solidFill>
                          <a:latin typeface="Calibri"/>
                        </a:rPr>
                        <a:t>Principle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1">
                          <a:solidFill>
                            <a:srgbClr val="FFFFFF"/>
                          </a:solidFill>
                          <a:latin typeface="Calibri"/>
                        </a:rPr>
                        <a:t>One line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1">
                          <a:solidFill>
                            <a:srgbClr val="FFFFFF"/>
                          </a:solidFill>
                          <a:latin typeface="Calibri"/>
                        </a:rPr>
                        <a:t>Bites in the workbook at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472744">
                <a:tc>
                  <a:txBody>
                    <a:bodyPr wrap="square"/>
                    <a:lstStyle/>
                    <a:p>
                      <a:pPr algn="l"/>
                      <a:r>
                        <a:rPr sz="1011" b="0">
                          <a:solidFill>
                            <a:srgbClr val="1A1A1A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1" b="0">
                          <a:solidFill>
                            <a:srgbClr val="1A1A1A"/>
                          </a:solidFill>
                          <a:latin typeface="Calibri"/>
                        </a:rPr>
                        <a:t>Combinations &amp; interpolation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1" b="0">
                          <a:solidFill>
                            <a:srgbClr val="1A1A1A"/>
                          </a:solidFill>
                          <a:latin typeface="Calibri"/>
                        </a:rPr>
                        <a:t>derived-from-modellable is modellable; interpolation must match the PLA/RTPL mapping; extrapolation limited + supervised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1" b="0">
                          <a:solidFill>
                            <a:srgbClr val="1A1A1A"/>
                          </a:solidFill>
                          <a:latin typeface="Calibri"/>
                        </a:rPr>
                        <a:t>45 (RTPL grid), 50 (31.19)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72744">
                <a:tc>
                  <a:txBody>
                    <a:bodyPr wrap="square"/>
                    <a:lstStyle/>
                    <a:p>
                      <a:pPr algn="l"/>
                      <a:r>
                        <a:rPr sz="1011" b="0">
                          <a:solidFill>
                            <a:srgbClr val="1A1A1A"/>
                          </a:solidFill>
                          <a:latin typeface="Calibri"/>
                        </a:rPr>
                        <a:t>P2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1" b="0">
                          <a:solidFill>
                            <a:srgbClr val="1A1A1A"/>
                          </a:solidFill>
                          <a:latin typeface="Calibri"/>
                        </a:rPr>
                        <a:t>Idio AND general risk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1" b="0">
                          <a:solidFill>
                            <a:srgbClr val="1A1A1A"/>
                          </a:solidFill>
                          <a:latin typeface="Calibri"/>
                        </a:rPr>
                        <a:t>whichever component the data can't support → NMRF that part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1" b="0">
                          <a:solidFill>
                            <a:srgbClr val="1A1A1A"/>
                          </a:solidFill>
                          <a:latin typeface="Calibri"/>
                        </a:rPr>
                        <a:t>50 (31.20) · 55 §1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72744">
                <a:tc>
                  <a:txBody>
                    <a:bodyPr wrap="square"/>
                    <a:lstStyle/>
                    <a:p>
                      <a:pPr algn="l"/>
                      <a:r>
                        <a:rPr sz="1011" b="0">
                          <a:solidFill>
                            <a:srgbClr val="1A1A1A"/>
                          </a:solidFill>
                          <a:latin typeface="Calibri"/>
                        </a:rPr>
                        <a:t>P3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1" b="0">
                          <a:solidFill>
                            <a:srgbClr val="1A1A1A"/>
                          </a:solidFill>
                          <a:latin typeface="Calibri"/>
                        </a:rPr>
                        <a:t>Vol &amp; correlation fidelity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1" b="0">
                          <a:solidFill>
                            <a:srgbClr val="1A1A1A"/>
                          </a:solidFill>
                          <a:latin typeface="Calibri"/>
                        </a:rPr>
                        <a:t>no smoothing away volatility; correlations ≈ correlations among real prices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1" b="0">
                          <a:solidFill>
                            <a:srgbClr val="1A1A1A"/>
                          </a:solidFill>
                          <a:latin typeface="Calibri"/>
                        </a:rPr>
                        <a:t>05 §1 (smooth-series)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72744">
                <a:tc>
                  <a:txBody>
                    <a:bodyPr wrap="square"/>
                    <a:lstStyle/>
                    <a:p>
                      <a:pPr algn="l"/>
                      <a:r>
                        <a:rPr sz="1011" b="0">
                          <a:solidFill>
                            <a:srgbClr val="1A1A1A"/>
                          </a:solidFill>
                          <a:latin typeface="Calibri"/>
                        </a:rPr>
                        <a:t>P4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1" b="0">
                          <a:solidFill>
                            <a:srgbClr val="1A1A1A"/>
                          </a:solidFill>
                          <a:latin typeface="Calibri"/>
                        </a:rPr>
                        <a:t>Reflective of real prices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1" b="0">
                          <a:solidFill>
                            <a:srgbClr val="1A1A1A"/>
                          </a:solidFill>
                          <a:latin typeface="Calibri"/>
                        </a:rPr>
                        <a:t>the standing recon: risk prices vs FO/BO vs real observations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1" b="0">
                          <a:solidFill>
                            <a:srgbClr val="1A1A1A"/>
                          </a:solidFill>
                          <a:latin typeface="Calibri"/>
                        </a:rPr>
                        <a:t>05 §2 (POLICE)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72744">
                <a:tc>
                  <a:txBody>
                    <a:bodyPr wrap="square"/>
                    <a:lstStyle/>
                    <a:p>
                      <a:pPr algn="l"/>
                      <a:r>
                        <a:rPr sz="1011" b="0">
                          <a:solidFill>
                            <a:srgbClr val="1A1A1A"/>
                          </a:solidFill>
                          <a:latin typeface="Calibri"/>
                        </a:rPr>
                        <a:t>P5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1" b="0">
                          <a:solidFill>
                            <a:srgbClr val="1A1A1A"/>
                          </a:solidFill>
                          <a:latin typeface="Calibri"/>
                        </a:rPr>
                        <a:t>Update frequency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1" b="0">
                          <a:solidFill>
                            <a:srgbClr val="1A1A1A"/>
                          </a:solidFill>
                          <a:latin typeface="Calibri"/>
                        </a:rPr>
                        <a:t>two clocks: model DATA refreshed at least MONTHLY, ideally daily; regression parameters (β's) re-run at least once every 2 WEEKS — that is the refresh cadence, the estimation window itself stays long (e.g. 2y of weekly points)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1" b="0">
                          <a:solidFill>
                            <a:srgbClr val="1A1A1A"/>
                          </a:solidFill>
                          <a:latin typeface="Calibri"/>
                        </a:rPr>
                        <a:t>55 (β re-estimation flags)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72744">
                <a:tc>
                  <a:txBody>
                    <a:bodyPr wrap="square"/>
                    <a:lstStyle/>
                    <a:p>
                      <a:pPr algn="l"/>
                      <a:r>
                        <a:rPr sz="1011" b="0">
                          <a:solidFill>
                            <a:srgbClr val="1A1A1A"/>
                          </a:solidFill>
                          <a:latin typeface="Calibri"/>
                        </a:rPr>
                        <a:t>P6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1" b="0">
                          <a:solidFill>
                            <a:srgbClr val="1A1A1A"/>
                          </a:solidFill>
                          <a:latin typeface="Calibri"/>
                        </a:rPr>
                        <a:t>Stress-period data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1" b="0">
                          <a:solidFill>
                            <a:srgbClr val="1A1A1A"/>
                          </a:solidFill>
                          <a:latin typeface="Calibri"/>
                        </a:rPr>
                        <a:t>stressed-ES data from the actual stress window, else omit factor &amp; keep the 75% reduced-set test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1" b="0">
                          <a:solidFill>
                            <a:srgbClr val="1A1A1A"/>
                          </a:solidFill>
                          <a:latin typeface="Calibri"/>
                        </a:rPr>
                        <a:t>55 (stress-window σ)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72744">
                <a:tc>
                  <a:txBody>
                    <a:bodyPr wrap="square"/>
                    <a:lstStyle/>
                    <a:p>
                      <a:pPr algn="l"/>
                      <a:r>
                        <a:rPr sz="1011" b="0">
                          <a:solidFill>
                            <a:srgbClr val="1A1A1A"/>
                          </a:solidFill>
                          <a:latin typeface="Calibri"/>
                        </a:rPr>
                        <a:t>P7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1" b="0">
                          <a:solidFill>
                            <a:srgbClr val="1A1A1A"/>
                          </a:solidFill>
                          <a:latin typeface="Calibri"/>
                        </a:rPr>
                        <a:t>Proxies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1" b="0">
                          <a:solidFill>
                            <a:srgbClr val="1A1A1A"/>
                          </a:solidFill>
                          <a:latin typeface="Calibri"/>
                        </a:rPr>
                        <a:t>limited, similar (region/quality/type), empirical betas; P7(b): proxy goes into RTPL unless basis capitalised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1" b="0">
                          <a:solidFill>
                            <a:srgbClr val="1A1A1A"/>
                          </a:solidFill>
                          <a:latin typeface="Calibri"/>
                        </a:rPr>
                        <a:t>55 §2 — the punchline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440680"/>
            <a:ext cx="11057839" cy="737372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440680"/>
            <a:ext cx="82296" cy="737372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440680"/>
            <a:ext cx="10600639" cy="7373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4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Enforcement is 31.23: principles unmet ⇒ the supervisor deems the data unsuitable and the factor becomes an NMRF DESPITE its RFET pass. Counting gets you in; governance keeps you 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57_seven_principles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5 · P1 / P6 / P7(B) IN DEPTH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57_seven_principles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P1 / P6 / P7 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P1, P6 and P7(b) — the three principles where models actually get challenged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361188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3611880" cy="82296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55648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0E2C4B"/>
                </a:solidFill>
                <a:latin typeface="Calibri"/>
              </a:rPr>
              <a:t>P1 — INTERPOLATION DISCIPLINE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94560"/>
            <a:ext cx="32461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13" b="0" i="0">
                <a:solidFill>
                  <a:srgbClr val="1A1A1A"/>
                </a:solidFill>
                <a:latin typeface="Calibri"/>
              </a:rPr>
              <a:t>Interpolating between modellable points is fine — but the interpolation must use the SAME mapping as RTPL, never a broader alternative bucketing. Extrapolation: only a reasonable distance, from MORE than one modellable factor, with supervisory approval, and reflected in RTPL. The quiet echo of 31.16(1)(a).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986" b="1" i="0">
                <a:solidFill>
                  <a:srgbClr val="0E2C4B"/>
                </a:solidFill>
                <a:latin typeface="Calibri"/>
              </a:rPr>
              <a:t>EXAMPLE   </a:t>
            </a:r>
            <a:r>
              <a:rPr sz="1078" b="0" i="0">
                <a:solidFill>
                  <a:srgbClr val="6A6A6A"/>
                </a:solidFill>
                <a:latin typeface="Calibri"/>
              </a:rPr>
              <a:t>the model needs a EUR 6Y rate. RTPL interpolates it from the 5Y and 7Y factors — so the ES data must use those SAME two neighbours with the same weights, never a broader 4–10y scheme. A 42Y exposure beyond the 30Y point: extrapolate from more than one anchor (20Y &amp; 30Y), with approval, mirrored in RTPL.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572768"/>
            <a:ext cx="361188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572768"/>
            <a:ext cx="3611880" cy="82296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755648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B8862E"/>
                </a:solidFill>
                <a:latin typeface="Calibri"/>
              </a:rPr>
              <a:t>P6 — THE STRESS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194560"/>
            <a:ext cx="32461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13" b="0" i="0">
                <a:solidFill>
                  <a:srgbClr val="1A1A1A"/>
                </a:solidFill>
                <a:latin typeface="Calibri"/>
              </a:rPr>
              <a:t>Stressed-ES data must come from the actual stress period. Can't justify it? OMIT the factor from the stressed calculation — and the reduced factor set must still explain ≥75% of the full ES (MAR33.5(2)(b)). Name-specific factors that didn't exist in 2008: their idio part is presumed OUT of the reduced set.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986" b="1" i="0">
                <a:solidFill>
                  <a:srgbClr val="B8862E"/>
                </a:solidFill>
                <a:latin typeface="Calibri"/>
              </a:rPr>
              <a:t>EXAMPLE   </a:t>
            </a:r>
            <a:r>
              <a:rPr sz="1078" b="0" i="0">
                <a:solidFill>
                  <a:srgbClr val="6A6A6A"/>
                </a:solidFill>
                <a:latin typeface="Calibri"/>
              </a:rPr>
              <a:t>the stress window is 2008–09, but XYZ Corp first issued debt in 2015. Its name-specific factor cannot be evidenced in that window → the idio part drops out of the reduced set, the exposure maps to the EUR IG-Industrials sector factor for the stressed ES, and the reduced set must still clear the 75% test.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5008" y="1572768"/>
            <a:ext cx="361188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572768"/>
            <a:ext cx="3611880" cy="82296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755648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P7(b) — THE RTPL/PROXY ALIGNMENT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194560"/>
            <a:ext cx="32461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13" b="0" i="0">
                <a:solidFill>
                  <a:srgbClr val="1A1A1A"/>
                </a:solidFill>
                <a:latin typeface="Calibri"/>
              </a:rPr>
              <a:t>If a proxy represents the factor in ES, the PROXY must be what RTPL carries — unless the basis is identified and capitalised. Books that proxy in capital but use actual factors in RTPL fail PLA for a reason they can't see. The most common single remediation on proxied desks.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986" b="1" i="0">
                <a:solidFill>
                  <a:srgbClr val="C2453C"/>
                </a:solidFill>
                <a:latin typeface="Calibri"/>
              </a:rPr>
              <a:t>EXAMPLE   </a:t>
            </a:r>
            <a:r>
              <a:rPr sz="1078" b="0" i="0">
                <a:solidFill>
                  <a:srgbClr val="6A6A6A"/>
                </a:solidFill>
                <a:latin typeface="Calibri"/>
              </a:rPr>
              <a:t>ES capitalises NovaTech as 0.95 × TechnoSys plus a basis NMRF (55 §2). RTPL must carry that SAME 0.95 × TechnoSys — or, once the basis is capitalised, the actual NovaTech factor. The failure mode: proxy in capital, raw NovaTech marks in RTPL — the basis then pollutes HPL−RTPL every single 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614416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614416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5614416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4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One sentence to retain: the mapping used for CAPITAL must equal the mapping that builds RTPL — P1 says it for interpolation, P7(b) for proxies, 31.16(1)(a) for buckets.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57_seven_principles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5 · P1, ONE LEVEL DEEPER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57_seven_principles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note + diagram, rows 14-16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Interpolation is a knowledge claim — pillars lend their VALUES, never their modellability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26464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6" b="1" i="0">
                <a:solidFill>
                  <a:srgbClr val="355574"/>
                </a:solidFill>
                <a:latin typeface="Calibri"/>
              </a:rPr>
              <a:t>EXHIBIT 7</a:t>
            </a:r>
            <a:r>
              <a:rPr sz="986" b="0" i="1">
                <a:solidFill>
                  <a:srgbClr val="6A6A6A"/>
                </a:solidFill>
                <a:latin typeface="Calibri"/>
              </a:rPr>
              <a:t>   Two allocation systems, one clamp — the P1 cross-bucket rule</a:t>
            </a:r>
          </a:p>
        </p:txBody>
      </p:sp>
      <p:pic>
        <p:nvPicPr>
          <p:cNvPr id="9" name="Picture 8" descr="interp_cl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" y="1682496"/>
            <a:ext cx="8686800" cy="30116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66928" y="5088636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010912"/>
            <a:ext cx="105521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83" b="1" i="0">
                <a:solidFill>
                  <a:srgbClr val="0E2C4B"/>
                </a:solidFill>
                <a:latin typeface="Calibri"/>
              </a:rPr>
              <a:t>Prints vs sensitivities.  </a:t>
            </a:r>
            <a:r>
              <a:rPr sz="1183" b="0" i="0">
                <a:solidFill>
                  <a:srgbClr val="1A1A1A"/>
                </a:solidFill>
                <a:latin typeface="Calibri"/>
              </a:rPr>
              <a:t>buckets allocate PRINTS discretely (one bucket per price, 31.18); interpolation allocates SENSITIVITIES continuously (same weights in ES data and RTPL, P1a). A bucket's pillar answers the counting question — never the pricing 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728716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650992"/>
            <a:ext cx="105521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83" b="1" i="0">
                <a:solidFill>
                  <a:srgbClr val="0E2C4B"/>
                </a:solidFill>
                <a:latin typeface="Calibri"/>
              </a:rPr>
              <a:t>The bet the mapping places.  </a:t>
            </a:r>
            <a:r>
              <a:rPr sz="1183" b="0" i="0">
                <a:solidFill>
                  <a:srgbClr val="1A1A1A"/>
                </a:solidFill>
                <a:latin typeface="Calibri"/>
              </a:rPr>
              <a:t>an interpolated point is built from adjacent RFET-proven pillars and ASSERTS it carries no risk beyond what they imply — PLA tests that assertion daily; when it fails, the point earns its own factor (own RFET) or an NMRF charge for the residual. Compression of evidence is welcome; multiplication of it is not.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57_seven_principles rows 14-16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5 · LIVE DEMO — INPUTS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60_calculator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white = input, grey = derived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The calculator: one row per observation, every derivation visible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64240" cy="36612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83280"/>
                <a:gridCol w="4206240"/>
                <a:gridCol w="3474720"/>
              </a:tblGrid>
              <a:tr h="523036">
                <a:tc>
                  <a:txBody>
                    <a:bodyPr wrap="square"/>
                    <a:lstStyle/>
                    <a:p>
                      <a:pPr algn="l"/>
                      <a:r>
                        <a:rPr sz="1078" b="1">
                          <a:solidFill>
                            <a:srgbClr val="FFFFFF"/>
                          </a:solidFill>
                          <a:latin typeface="Calibri"/>
                        </a:rPr>
                        <a:t>Column(s)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8" b="1">
                          <a:solidFill>
                            <a:srgbClr val="FFFFFF"/>
                          </a:solidFill>
                          <a:latin typeface="Calibri"/>
                        </a:rPr>
                        <a:t>What it demonstrates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523036"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B — obs date · S — real price? (Y/N)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the evidence: when, and does it qualify under 31.12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a single S→N flip is enough to fail a borderline factor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523036"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D–H — class / object / vol / swaption / several-dims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drives the row logic (a)–(f)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the K-column formula resolves rules (a)–(f) mechanically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523036"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J, N, Q — dim values (years, δ)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the coordinates on each continuous axis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the boundary case: t = 0.75 lands in bucket 2, never 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523036"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K/L, O/P, R — rows &amp; buckets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MATCH against the Table-1 lower bounds (named ranges)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closed-left / open-right semantics, cell by cell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523036"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T — risk-factor key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class|object|buckets — the pooling identity (31.17)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two different tenors, one key — that IS the pooling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523036"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U — days to next obs · V — 1st-of-day flag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drought metric + the one-per-day cap (31.13)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4" b="0">
                          <a:solidFill>
                            <a:srgbClr val="1A1A1A"/>
                          </a:solidFill>
                          <a:latin typeface="Calibri"/>
                        </a:rPr>
                        <a:t>a duplicated date leaves the count unchanged (1/day cap)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349240"/>
            <a:ext cx="11057839" cy="614476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349240"/>
            <a:ext cx="82296" cy="614476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349240"/>
            <a:ext cx="10600639" cy="614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4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Everything the RFET needs is derived on-sheet from raw observations — no macros, no hidden logic. The audience can rebuild any cell from the MAR31 text beside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053328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60" b="1" i="0">
                <a:solidFill>
                  <a:srgbClr val="C2453C"/>
                </a:solidFill>
                <a:latin typeface="Calibri"/>
              </a:rPr>
              <a:t>Everything hangs off the as-of date:  </a:t>
            </a:r>
            <a:r>
              <a:rPr sz="1160" b="0" i="1">
                <a:solidFill>
                  <a:srgbClr val="6A6A6A"/>
                </a:solidFill>
                <a:latin typeface="Calibri"/>
              </a:rPr>
              <a:t>currently 2026-06-28 — move it, and the 12-month window, the counts and every verdict slide with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60_calculator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5 · LIVE DEMO — VERDICTS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70_rfet_results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conditional formatting tells the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Six factors, six verdicts — each one fails (or passes) for a different reason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26464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6" b="1" i="0">
                <a:solidFill>
                  <a:srgbClr val="355574"/>
                </a:solidFill>
                <a:latin typeface="Calibri"/>
              </a:rPr>
              <a:t>EXHIBIT 8</a:t>
            </a:r>
            <a:r>
              <a:rPr sz="986" b="0" i="1">
                <a:solidFill>
                  <a:srgbClr val="6A6A6A"/>
                </a:solidFill>
                <a:latin typeface="Calibri"/>
              </a:rPr>
              <a:t>   Live results read from the workbook (as-of 2026-06-28)</a:t>
            </a:r>
          </a:p>
        </p:txBody>
      </p:sp>
      <p:pic>
        <p:nvPicPr>
          <p:cNvPr id="9" name="Picture 8" descr="result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2496"/>
            <a:ext cx="10058400" cy="258180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66928" y="493318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855464"/>
            <a:ext cx="105521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2" b="1" i="0">
                <a:solidFill>
                  <a:srgbClr val="0E2C4B"/>
                </a:solidFill>
                <a:latin typeface="Calibri"/>
              </a:rPr>
              <a:t>Every verdict has a different cause.  </a:t>
            </a:r>
            <a:r>
              <a:rPr sz="1252" b="0" i="0">
                <a:solidFill>
                  <a:srgbClr val="1A1A1A"/>
                </a:solidFill>
                <a:latin typeface="Calibri"/>
              </a:rPr>
              <a:t>FX passes at EXACTLY 24 — one lost print would flip it. WTI has fine density (22d) but count 20 &lt; 24. Credit has count AND a 130-day drought. The swaption cube is simply sparse.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500116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422392"/>
            <a:ext cx="105521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2" b="1" i="0">
                <a:solidFill>
                  <a:srgbClr val="0E2C4B"/>
                </a:solidFill>
                <a:latin typeface="Calibri"/>
              </a:rPr>
              <a:t>The panel is live, not a picture.  </a:t>
            </a:r>
            <a:r>
              <a:rPr sz="1252" b="0" i="0">
                <a:solidFill>
                  <a:srgbClr val="1A1A1A"/>
                </a:solidFill>
                <a:latin typeface="Calibri"/>
              </a:rPr>
              <a:t>remove two FX observations on 60_calculator and the EURUSD row turns PASS → FAIL — the test is transparent down to the individual print.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70_rfet_results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18" b="1" i="0">
                <a:solidFill>
                  <a:srgbClr val="C2453C"/>
                </a:solidFill>
                <a:latin typeface="Calibri"/>
              </a:rPr>
              <a:t>SESSION 5 · WRAP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86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160" b="1" i="0">
                <a:solidFill>
                  <a:srgbClr val="0E2C4B"/>
                </a:solidFill>
                <a:latin typeface="Calibri"/>
              </a:rPr>
              <a:t>90_citations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27" b="0" i="0">
                <a:solidFill>
                  <a:srgbClr val="6A6A6A"/>
                </a:solidFill>
                <a:latin typeface="Calibri"/>
              </a:rPr>
              <a:t>every anchor, verbatim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Seven questions you should now be able to answer cold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18520" cy="3540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5577840"/>
                <a:gridCol w="2148840"/>
              </a:tblGrid>
              <a:tr h="44256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The question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The answer in one line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442569"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Is a CMS a several-maturity-dims factor?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No — the 10Y tenor is PINNED (categorical); only the start varies → row 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10_decision_map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42569"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Can an own bucket span 5Y and 10Y?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Only by coarsening RTPL across two SA vertices — blocked by the 31.3 floor + 31.16(1)(a) pincer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45_guardrail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42569"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Do the swaption wings borrow ATM prints?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Never across a D-band boundary — only full-box sharers pool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50 rows 32–39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42569"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Can I mix own &amp; regulatory?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Across objects, yes (per curve/surface/cube); within one object, no — and there's no payoff anyway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40 rows 22–37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42569"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Is a market '25Δ' at regulatory δ = 0.25?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No — Δ is the hedge ratio N(d₁), δ is P(ITM) = N(d₂); on the wings the wedge flips D-bands → fn6 conversion is mandatory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20 row 34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42569"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Can an interpolated point inherit modellability?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Never — pillars lend VALUES, not STATUS; a cross-bucket derived FACTOR passes its own RFET or stays a pricing point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57 rows 14–16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42569"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Can I discard prices after passing?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No — quarterly gate, Principle-4 recon, evidence on demand; only CALIBRATION moves on (31.22)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23" b="0">
                          <a:solidFill>
                            <a:srgbClr val="1A1A1A"/>
                          </a:solidFill>
                          <a:latin typeface="Calibri"/>
                        </a:rPr>
                        <a:t>05 §2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230368"/>
            <a:ext cx="11057839" cy="839784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230368"/>
            <a:ext cx="82296" cy="839784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230368"/>
            <a:ext cx="10600639" cy="839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4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34" b="0" i="0">
                <a:solidFill>
                  <a:srgbClr val="1A1A1A"/>
                </a:solidFill>
                <a:latin typeface="Calibri"/>
              </a:rPr>
              <a:t>The one-sentence course: real prices earn capital credit; buckets decide where prices count; the election is per object; RTPL must use the capital mapping; pillars lend values, never status; and the seven principles are the rent. Everything else is worked examples.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MAR31 (in force 01-Jan-2023); workbook MAR31_RFET_Bucketing_Reference_v23.xlsx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90_citations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Modellable or Not — the RFET, Bucketing &amp; the Road to IMA</dc:title>
  <dc:subject>FRTB IMA — MAR31 risk-factor modellability</dc:subject>
  <dc:creator>Amit</dc:creator>
  <cp:keywords/>
  <dc:description>generated using python-pptx</dc:description>
  <cp:lastModifiedBy>Amit</cp:lastModifiedBy>
  <cp:revision>1</cp:revision>
  <dcterms:created xsi:type="dcterms:W3CDTF">2013-01-27T09:14:16Z</dcterms:created>
  <dcterms:modified xsi:type="dcterms:W3CDTF">2013-01-27T09:15:58Z</dcterms:modified>
  <cp:category/>
</cp:coreProperties>
</file>